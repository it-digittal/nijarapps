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2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3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4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5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6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charts/chart7.xml" ContentType="application/vnd.openxmlformats-officedocument.drawingml.chart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charts/chart8.xml" ContentType="application/vnd.openxmlformats-officedocument.drawingml.chart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charts/chart9.xml" ContentType="application/vnd.openxmlformats-officedocument.drawingml.chart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ción" id="{b2499743-d006-870c-d7c5-45ddaff8fe9b}">
          <p14:sldIdLst>
            <p14:sldId id="256"/>
            <p14:sldId id="257"/>
            <p14:sldId id="258"/>
            <p14:sldId id="259"/>
          </p14:sldIdLst>
        </p14:section>
        <p14:section name="Módulos" id="{b2d439c4-1361-d1da-6320-8c40199719e9}">
          <p14:sldIdLst>
            <p14:sldId id="260"/>
            <p14:sldId id="261"/>
            <p14:sldId id="262"/>
            <p14:sldId id="263"/>
            <p14:sldId id="264"/>
            <p14:sldId id="265"/>
            <p14:sldId id="266"/>
            <p14:sldId id="267"/>
          </p14:sldIdLst>
        </p14:section>
        <p14:section name="Decisión y plan" id="{09a51a34-2c47-94dc-df30-2dfa23e4bd67}">
          <p14:sldIdLst>
            <p14:sldId id="268"/>
            <p14:sldId id="269"/>
            <p14:sldId id="270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7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_rels/chart8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8.xlsx"/></Relationships>
</file>

<file path=ppt/charts/_rels/chart9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9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0B2A55"/>
                </a:solidFill>
                <a:latin typeface="+mn-lt"/>
              </a:defRPr>
            </a:pPr>
            <a:r>
              <a:rPr sz="1100" b="0" i="0" u="none" strike="noStrike">
                <a:solidFill>
                  <a:srgbClr val="0B2A55"/>
                </a:solidFill>
                <a:latin typeface="+mn-lt"/>
              </a:rPr>
              <a:t>Índice de ciudad, 12 meses (objetivo 85)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Índice de ciudad</c:v>
                </c:pt>
              </c:strCache>
            </c:strRef>
          </c:tx>
          <c:spPr>
            <a:solidFill>
              <a:srgbClr val="0B2A55"/>
            </a:solidFill>
            <a:ln w="25400" cap="flat">
              <a:solidFill>
                <a:srgbClr val="0B2A55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4213D"/>
                    </a:solidFill>
                    <a:latin typeface="+mn-lt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0B2A55"/>
              </a:solidFill>
              <a:ln w="9525" cap="flat">
                <a:solidFill>
                  <a:srgbClr val="0B2A55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Sheet1!$A$2:$A$13</c:f>
              <c:multiLvlStrCache>
                <c:ptCount val="12"/>
                <c:lvl>
                  <c:pt idx="0">
                    <c:v>nov</c:v>
                  </c:pt>
                  <c:pt idx="1">
                    <c:v>dic</c:v>
                  </c:pt>
                  <c:pt idx="2">
                    <c:v>ene</c:v>
                  </c:pt>
                  <c:pt idx="3">
                    <c:v>feb</c:v>
                  </c:pt>
                  <c:pt idx="4">
                    <c:v>mar</c:v>
                  </c:pt>
                  <c:pt idx="5">
                    <c:v>abr</c:v>
                  </c:pt>
                  <c:pt idx="6">
                    <c:v>may</c:v>
                  </c:pt>
                  <c:pt idx="7">
                    <c:v>jun</c:v>
                  </c:pt>
                  <c:pt idx="8">
                    <c:v>jul</c:v>
                  </c:pt>
                  <c:pt idx="9">
                    <c:v>ago</c:v>
                  </c:pt>
                  <c:pt idx="10">
                    <c:v>sep</c:v>
                  </c:pt>
                  <c:pt idx="11">
                    <c:v>oct</c:v>
                  </c:pt>
                </c:lvl>
              </c:multiLvlStrCache>
            </c:multiLvl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78</c:v>
                </c:pt>
                <c:pt idx="1">
                  <c:v>79</c:v>
                </c:pt>
                <c:pt idx="2">
                  <c:v>81</c:v>
                </c:pt>
                <c:pt idx="3">
                  <c:v>80</c:v>
                </c:pt>
                <c:pt idx="4">
                  <c:v>82</c:v>
                </c:pt>
                <c:pt idx="5">
                  <c:v>83</c:v>
                </c:pt>
                <c:pt idx="6">
                  <c:v>81</c:v>
                </c:pt>
                <c:pt idx="7">
                  <c:v>80</c:v>
                </c:pt>
                <c:pt idx="8">
                  <c:v>83</c:v>
                </c:pt>
                <c:pt idx="9">
                  <c:v>85</c:v>
                </c:pt>
                <c:pt idx="10">
                  <c:v>84</c:v>
                </c:pt>
                <c:pt idx="11">
                  <c:v>84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Objetivo</c:v>
                </c:pt>
              </c:strCache>
            </c:strRef>
          </c:tx>
          <c:spPr>
            <a:solidFill>
              <a:srgbClr val="F2A93B"/>
            </a:solidFill>
            <a:ln w="25400" cap="flat">
              <a:solidFill>
                <a:srgbClr val="F2A93B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4213D"/>
                    </a:solidFill>
                    <a:latin typeface="+mn-lt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F2A93B"/>
              </a:solidFill>
              <a:ln w="9525" cap="flat">
                <a:solidFill>
                  <a:srgbClr val="F2A93B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Sheet1!$A$2:$A$13</c:f>
              <c:multiLvlStrCache>
                <c:ptCount val="12"/>
                <c:lvl>
                  <c:pt idx="0">
                    <c:v>nov</c:v>
                  </c:pt>
                  <c:pt idx="1">
                    <c:v>dic</c:v>
                  </c:pt>
                  <c:pt idx="2">
                    <c:v>ene</c:v>
                  </c:pt>
                  <c:pt idx="3">
                    <c:v>feb</c:v>
                  </c:pt>
                  <c:pt idx="4">
                    <c:v>mar</c:v>
                  </c:pt>
                  <c:pt idx="5">
                    <c:v>abr</c:v>
                  </c:pt>
                  <c:pt idx="6">
                    <c:v>may</c:v>
                  </c:pt>
                  <c:pt idx="7">
                    <c:v>jun</c:v>
                  </c:pt>
                  <c:pt idx="8">
                    <c:v>jul</c:v>
                  </c:pt>
                  <c:pt idx="9">
                    <c:v>ago</c:v>
                  </c:pt>
                  <c:pt idx="10">
                    <c:v>sep</c:v>
                  </c:pt>
                  <c:pt idx="11">
                    <c:v>oct</c:v>
                  </c:pt>
                </c:lvl>
              </c:multiLvlStrCache>
            </c:multiLvlStrRef>
          </c:cat>
          <c:val>
            <c:numRef>
              <c:f>Sheet1!$C$2:$C$13</c:f>
              <c:numCache>
                <c:formatCode>General</c:formatCode>
                <c:ptCount val="12"/>
                <c:pt idx="0">
                  <c:v>85</c:v>
                </c:pt>
                <c:pt idx="1">
                  <c:v>85</c:v>
                </c:pt>
                <c:pt idx="2">
                  <c:v>85</c:v>
                </c:pt>
                <c:pt idx="3">
                  <c:v>85</c:v>
                </c:pt>
                <c:pt idx="4">
                  <c:v>85</c:v>
                </c:pt>
                <c:pt idx="5">
                  <c:v>85</c:v>
                </c:pt>
                <c:pt idx="6">
                  <c:v>85</c:v>
                </c:pt>
                <c:pt idx="7">
                  <c:v>85</c:v>
                </c:pt>
                <c:pt idx="8">
                  <c:v>85</c:v>
                </c:pt>
                <c:pt idx="9">
                  <c:v>85</c:v>
                </c:pt>
                <c:pt idx="10">
                  <c:v>85</c:v>
                </c:pt>
                <c:pt idx="11">
                  <c:v>85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14213D"/>
                  </a:solidFill>
                  <a:latin typeface="+mn-lt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B88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90"/>
          <c:min val="70"/>
        </c:scaling>
        <c:delete val="0"/>
        <c:axPos val="l"/>
        <c:majorGridlines>
          <c:spPr>
            <a:ln w="9525" cap="flat">
              <a:solidFill>
                <a:srgbClr val="E3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B88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  <c:majorUnit val="10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0B2A55"/>
                </a:solidFill>
                <a:latin typeface="+mn-lt"/>
              </a:defRPr>
            </a:pPr>
            <a:r>
              <a:rPr sz="1300" b="0" i="0" u="none" strike="noStrike">
                <a:solidFill>
                  <a:srgbClr val="0B2A55"/>
                </a:solidFill>
                <a:latin typeface="+mn-lt"/>
              </a:rPr>
              <a:t>Visitantes por semana · real y previsión a 4 semanas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Real</c:v>
                </c:pt>
              </c:strCache>
            </c:strRef>
          </c:tx>
          <c:spPr>
            <a:solidFill>
              <a:srgbClr val="8A97B1"/>
            </a:solidFill>
            <a:ln w="38100" cap="flat">
              <a:solidFill>
                <a:srgbClr val="8A97B1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4213D"/>
                    </a:solidFill>
                    <a:latin typeface="+mn-lt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7"/>
            <c:spPr>
              <a:solidFill>
                <a:srgbClr val="8A97B1"/>
              </a:solidFill>
              <a:ln w="9525" cap="flat">
                <a:solidFill>
                  <a:srgbClr val="8A97B1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Sheet1!$A$2:$A$13</c:f>
              <c:multiLvlStrCache>
                <c:ptCount val="12"/>
                <c:lvl>
                  <c:pt idx="0">
                    <c:v>31 ago</c:v>
                  </c:pt>
                  <c:pt idx="1">
                    <c:v>7 sep</c:v>
                  </c:pt>
                  <c:pt idx="2">
                    <c:v>14 sep</c:v>
                  </c:pt>
                  <c:pt idx="3">
                    <c:v>21 sep</c:v>
                  </c:pt>
                  <c:pt idx="4">
                    <c:v>28 sep</c:v>
                  </c:pt>
                  <c:pt idx="5">
                    <c:v>5 oct</c:v>
                  </c:pt>
                  <c:pt idx="6">
                    <c:v>12 oct</c:v>
                  </c:pt>
                  <c:pt idx="7">
                    <c:v>19 oct</c:v>
                  </c:pt>
                  <c:pt idx="8">
                    <c:v>26 oct</c:v>
                  </c:pt>
                  <c:pt idx="9">
                    <c:v>2 nov</c:v>
                  </c:pt>
                  <c:pt idx="10">
                    <c:v>9 nov</c:v>
                  </c:pt>
                  <c:pt idx="11">
                    <c:v>16 nov</c:v>
                  </c:pt>
                </c:lvl>
              </c:multiLvlStrCache>
            </c:multiLvl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31200</c:v>
                </c:pt>
                <c:pt idx="1">
                  <c:v>27400</c:v>
                </c:pt>
                <c:pt idx="2">
                  <c:v>24100</c:v>
                </c:pt>
                <c:pt idx="3">
                  <c:v>21800</c:v>
                </c:pt>
                <c:pt idx="4">
                  <c:v>20300</c:v>
                </c:pt>
                <c:pt idx="5">
                  <c:v>19600</c:v>
                </c:pt>
                <c:pt idx="6">
                  <c:v>21400</c:v>
                </c:pt>
                <c:pt idx="7">
                  <c:v>16600</c:v>
                </c:pt>
                <c:pt idx="8">
                  <c:v/>
                </c:pt>
                <c:pt idx="9">
                  <c:v/>
                </c:pt>
                <c:pt idx="10">
                  <c:v/>
                </c:pt>
                <c:pt idx="11">
                  <c:v/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Previsión</c:v>
                </c:pt>
              </c:strCache>
            </c:strRef>
          </c:tx>
          <c:spPr>
            <a:solidFill>
              <a:srgbClr val="2563B0"/>
            </a:solidFill>
            <a:ln w="38100" cap="flat">
              <a:solidFill>
                <a:srgbClr val="2563B0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4213D"/>
                    </a:solidFill>
                    <a:latin typeface="+mn-lt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7"/>
            <c:spPr>
              <a:solidFill>
                <a:srgbClr val="2563B0"/>
              </a:solidFill>
              <a:ln w="9525" cap="flat">
                <a:solidFill>
                  <a:srgbClr val="2563B0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Sheet1!$A$2:$A$13</c:f>
              <c:multiLvlStrCache>
                <c:ptCount val="12"/>
                <c:lvl>
                  <c:pt idx="0">
                    <c:v>31 ago</c:v>
                  </c:pt>
                  <c:pt idx="1">
                    <c:v>7 sep</c:v>
                  </c:pt>
                  <c:pt idx="2">
                    <c:v>14 sep</c:v>
                  </c:pt>
                  <c:pt idx="3">
                    <c:v>21 sep</c:v>
                  </c:pt>
                  <c:pt idx="4">
                    <c:v>28 sep</c:v>
                  </c:pt>
                  <c:pt idx="5">
                    <c:v>5 oct</c:v>
                  </c:pt>
                  <c:pt idx="6">
                    <c:v>12 oct</c:v>
                  </c:pt>
                  <c:pt idx="7">
                    <c:v>19 oct</c:v>
                  </c:pt>
                  <c:pt idx="8">
                    <c:v>26 oct</c:v>
                  </c:pt>
                  <c:pt idx="9">
                    <c:v>2 nov</c:v>
                  </c:pt>
                  <c:pt idx="10">
                    <c:v>9 nov</c:v>
                  </c:pt>
                  <c:pt idx="11">
                    <c:v>16 nov</c:v>
                  </c:pt>
                </c:lvl>
              </c:multiLvlStrCache>
            </c:multiLvlStrRef>
          </c:cat>
          <c:val>
            <c:numRef>
              <c:f>Sheet1!$C$2:$C$13</c:f>
              <c:numCache>
                <c:formatCode>General</c:formatCode>
                <c:ptCount val="12"/>
                <c:pt idx="0">
                  <c:v/>
                </c:pt>
                <c:pt idx="1">
                  <c:v/>
                </c:pt>
                <c:pt idx="2">
                  <c:v/>
                </c:pt>
                <c:pt idx="3">
                  <c:v/>
                </c:pt>
                <c:pt idx="4">
                  <c:v/>
                </c:pt>
                <c:pt idx="5">
                  <c:v/>
                </c:pt>
                <c:pt idx="6">
                  <c:v/>
                </c:pt>
                <c:pt idx="7">
                  <c:v>16600</c:v>
                </c:pt>
                <c:pt idx="8">
                  <c:v>18600</c:v>
                </c:pt>
                <c:pt idx="9">
                  <c:v>14100</c:v>
                </c:pt>
                <c:pt idx="10">
                  <c:v>13200</c:v>
                </c:pt>
                <c:pt idx="11">
                  <c:v>12800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14213D"/>
                  </a:solidFill>
                  <a:latin typeface="+mn-lt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B88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in val="0"/>
        </c:scaling>
        <c:delete val="0"/>
        <c:axPos val="l"/>
        <c:majorGridlines>
          <c:spPr>
            <a:ln w="9525" cap="flat">
              <a:solidFill>
                <a:srgbClr val="E3E8F0"/>
              </a:solidFill>
              <a:prstDash val="solid"/>
              <a:round/>
            </a:ln>
          </c:spPr>
        </c:majorGridlines>
        <c:numFmt formatCode="#,##0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B88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5B6B88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gap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0B2A55"/>
                </a:solidFill>
                <a:latin typeface="+mn-lt"/>
              </a:defRPr>
            </a:pPr>
            <a:r>
              <a:rPr sz="1300" b="0" i="0" u="none" strike="noStrike">
                <a:solidFill>
                  <a:srgbClr val="0B2A55"/>
                </a:solidFill>
                <a:latin typeface="+mn-lt"/>
              </a:rPr>
              <a:t>Consumo mensual (MWh) y previsión de noviembre</a:t>
            </a:r>
          </a:p>
        </c:rich>
      </c:tx>
      <c:layout/>
      <c:overlay val="0"/>
    </c:title>
    <c:autoTitleDeleted val="0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Real</c:v>
                </c:pt>
              </c:strCache>
            </c:strRef>
          </c:tx>
          <c:spPr>
            <a:solidFill>
              <a:srgbClr val="F2A93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4213D"/>
                    </a:solidFill>
                    <a:latin typeface="+mn-lt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Sheet1!$A$2:$A$14</c:f>
              <c:multiLvlStrCache>
                <c:ptCount val="13"/>
                <c:lvl>
                  <c:pt idx="0">
                    <c:v>nov</c:v>
                  </c:pt>
                  <c:pt idx="1">
                    <c:v>dic</c:v>
                  </c:pt>
                  <c:pt idx="2">
                    <c:v>ene</c:v>
                  </c:pt>
                  <c:pt idx="3">
                    <c:v>feb</c:v>
                  </c:pt>
                  <c:pt idx="4">
                    <c:v>mar</c:v>
                  </c:pt>
                  <c:pt idx="5">
                    <c:v>abr</c:v>
                  </c:pt>
                  <c:pt idx="6">
                    <c:v>may</c:v>
                  </c:pt>
                  <c:pt idx="7">
                    <c:v>jun</c:v>
                  </c:pt>
                  <c:pt idx="8">
                    <c:v>jul</c:v>
                  </c:pt>
                  <c:pt idx="9">
                    <c:v>ago</c:v>
                  </c:pt>
                  <c:pt idx="10">
                    <c:v>sep</c:v>
                  </c:pt>
                  <c:pt idx="11">
                    <c:v>oct</c:v>
                  </c:pt>
                  <c:pt idx="12">
                    <c:v>nov*</c:v>
                  </c:pt>
                </c:lvl>
              </c:multiLvlStrCache>
            </c:multiLvlStrRef>
          </c:cat>
          <c:val>
            <c:numRef>
              <c:f>Sheet1!$B$2:$B$14</c:f>
              <c:numCache>
                <c:formatCode>General</c:formatCode>
                <c:ptCount val="13"/>
                <c:pt idx="0">
                  <c:v>74</c:v>
                </c:pt>
                <c:pt idx="1">
                  <c:v>79</c:v>
                </c:pt>
                <c:pt idx="2">
                  <c:v>80</c:v>
                </c:pt>
                <c:pt idx="3">
                  <c:v>72</c:v>
                </c:pt>
                <c:pt idx="4">
                  <c:v>66</c:v>
                </c:pt>
                <c:pt idx="5">
                  <c:v>58</c:v>
                </c:pt>
                <c:pt idx="6">
                  <c:v>54</c:v>
                </c:pt>
                <c:pt idx="7">
                  <c:v>52</c:v>
                </c:pt>
                <c:pt idx="8">
                  <c:v>55</c:v>
                </c:pt>
                <c:pt idx="9">
                  <c:v>60</c:v>
                </c:pt>
                <c:pt idx="10">
                  <c:v>64</c:v>
                </c:pt>
                <c:pt idx="11">
                  <c:v>61.3</c:v>
                </c:pt>
                <c:pt idx="12">
                  <c:v>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Previsión</c:v>
                </c:pt>
              </c:strCache>
            </c:strRef>
          </c:tx>
          <c:spPr>
            <a:solidFill>
              <a:srgbClr val="0B2A55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4213D"/>
                    </a:solidFill>
                    <a:latin typeface="+mn-lt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Sheet1!$A$2:$A$14</c:f>
              <c:multiLvlStrCache>
                <c:ptCount val="13"/>
                <c:lvl>
                  <c:pt idx="0">
                    <c:v>nov</c:v>
                  </c:pt>
                  <c:pt idx="1">
                    <c:v>dic</c:v>
                  </c:pt>
                  <c:pt idx="2">
                    <c:v>ene</c:v>
                  </c:pt>
                  <c:pt idx="3">
                    <c:v>feb</c:v>
                  </c:pt>
                  <c:pt idx="4">
                    <c:v>mar</c:v>
                  </c:pt>
                  <c:pt idx="5">
                    <c:v>abr</c:v>
                  </c:pt>
                  <c:pt idx="6">
                    <c:v>may</c:v>
                  </c:pt>
                  <c:pt idx="7">
                    <c:v>jun</c:v>
                  </c:pt>
                  <c:pt idx="8">
                    <c:v>jul</c:v>
                  </c:pt>
                  <c:pt idx="9">
                    <c:v>ago</c:v>
                  </c:pt>
                  <c:pt idx="10">
                    <c:v>sep</c:v>
                  </c:pt>
                  <c:pt idx="11">
                    <c:v>oct</c:v>
                  </c:pt>
                  <c:pt idx="12">
                    <c:v>nov*</c:v>
                  </c:pt>
                </c:lvl>
              </c:multiLvlStrCache>
            </c:multiLvlStrRef>
          </c:cat>
          <c:val>
            <c:numRef>
              <c:f>Sheet1!$C$2:$C$14</c:f>
              <c:numCache>
                <c:formatCode>General</c:formatCode>
                <c:ptCount val="13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64.9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14213D"/>
                  </a:solidFill>
                  <a:latin typeface="+mn-lt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45"/>
        <c:overlap val="10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B88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in val="0"/>
        </c:scaling>
        <c:delete val="0"/>
        <c:axPos val="l"/>
        <c:majorGridlines>
          <c:spPr>
            <a:ln w="9525" cap="flat">
              <a:solidFill>
                <a:srgbClr val="E3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B88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5B6B88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0B2A55"/>
                </a:solidFill>
                <a:latin typeface="+mn-lt"/>
              </a:defRPr>
            </a:pPr>
            <a:r>
              <a:rPr sz="1300" b="0" i="0" u="none" strike="noStrike">
                <a:solidFill>
                  <a:srgbClr val="0B2A55"/>
                </a:solidFill>
                <a:latin typeface="+mn-lt"/>
              </a:rPr>
              <a:t>Rendimiento de red por sector (%) · objetivo 85 %</a:t>
            </a:r>
          </a:p>
        </c:rich>
      </c:tx>
      <c:layout/>
      <c:overlay val="0"/>
    </c:title>
    <c:autoTitleDeleted val="0"/>
    <c:plotArea>
      <c:layout/>
      <c:barChart>
        <c:barDir val="bar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Bajo objetivo</c:v>
                </c:pt>
              </c:strCache>
            </c:strRef>
          </c:tx>
          <c:spPr>
            <a:solidFill>
              <a:srgbClr val="E05A4D"/>
            </a:solidFill>
            <a:effectLst/>
          </c:spPr>
          <c:invertIfNegative val="0"/>
          <c:dLbls>
            <c:numFmt formatCode="0;;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FFFFFF"/>
                    </a:solidFill>
                    <a:latin typeface="+mn-lt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San José Norte</c:v>
                  </c:pt>
                  <c:pt idx="1">
                    <c:v>San Isidro</c:v>
                  </c:pt>
                  <c:pt idx="2">
                    <c:v>Campohermoso</c:v>
                  </c:pt>
                  <c:pt idx="3">
                    <c:v>Pujaire</c:v>
                  </c:pt>
                  <c:pt idx="4">
                    <c:v>Níjar centro</c:v>
                  </c:pt>
                  <c:pt idx="5">
                    <c:v>Agua Amarga</c:v>
                  </c:pt>
                  <c:pt idx="6">
                    <c:v>Las Negras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73</c:v>
                </c:pt>
                <c:pt idx="1">
                  <c:v>79</c:v>
                </c:pt>
                <c:pt idx="2">
                  <c:v>81</c:v>
                </c:pt>
                <c:pt idx="3">
                  <c:v>82</c:v>
                </c:pt>
                <c:pt idx="4">
                  <c:v>84</c:v>
                </c:pt>
                <c:pt idx="5">
                  <c:v>0</c:v>
                </c:pt>
                <c:pt idx="6">
                  <c:v>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En objetivo</c:v>
                </c:pt>
              </c:strCache>
            </c:strRef>
          </c:tx>
          <c:spPr>
            <a:solidFill>
              <a:srgbClr val="17A394"/>
            </a:solidFill>
            <a:effectLst/>
          </c:spPr>
          <c:invertIfNegative val="0"/>
          <c:dLbls>
            <c:numFmt formatCode="0;;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FFFFFF"/>
                    </a:solidFill>
                    <a:latin typeface="+mn-lt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San José Norte</c:v>
                  </c:pt>
                  <c:pt idx="1">
                    <c:v>San Isidro</c:v>
                  </c:pt>
                  <c:pt idx="2">
                    <c:v>Campohermoso</c:v>
                  </c:pt>
                  <c:pt idx="3">
                    <c:v>Pujaire</c:v>
                  </c:pt>
                  <c:pt idx="4">
                    <c:v>Níjar centro</c:v>
                  </c:pt>
                  <c:pt idx="5">
                    <c:v>Agua Amarga</c:v>
                  </c:pt>
                  <c:pt idx="6">
                    <c:v>Las Negras</c:v>
                  </c:pt>
                </c:lvl>
              </c:multiLvlStrCache>
            </c:multiLvlStrRef>
          </c:cat>
          <c:val>
            <c:numRef>
              <c:f>Sheet1!$C$2:$C$8</c:f>
              <c:numCache>
                <c:formatCode>General</c:formatCode>
                <c:ptCount val="7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86</c:v>
                </c:pt>
                <c:pt idx="6">
                  <c:v>88</c:v>
                </c:pt>
              </c:numCache>
            </c:numRef>
          </c:val>
        </c:ser>
        <c:dLbls>
          <c:numFmt formatCode="0;;" sourceLinked="0"/>
          <c:txPr>
            <a:bodyPr/>
            <a:lstStyle/>
            <a:p>
              <a:pPr>
                <a:defRPr b="0" i="0" strike="noStrike" sz="1000" u="none">
                  <a:solidFill>
                    <a:srgbClr val="FFFFFF"/>
                  </a:solidFill>
                  <a:latin typeface="+mn-lt"/>
                </a:defRPr>
              </a:pPr>
            </a:p>
          </c:txPr>
          <c:dLblPos val="in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0"/>
        <c:overlap val="10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B88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  <c:min val="0"/>
        </c:scaling>
        <c:delete val="0"/>
        <c:axPos val="b"/>
        <c:majorGridlines>
          <c:spPr>
            <a:ln w="9525" cap="flat">
              <a:solidFill>
                <a:srgbClr val="E3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B88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5B6B88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0B2A55"/>
                </a:solidFill>
                <a:latin typeface="+mn-lt"/>
              </a:defRPr>
            </a:pPr>
            <a:r>
              <a:rPr sz="1300" b="0" i="0" u="none" strike="noStrike">
                <a:solidFill>
                  <a:srgbClr val="0B2A55"/>
                </a:solidFill>
                <a:latin typeface="+mn-lt"/>
              </a:rPr>
              <a:t>Toneladas recogidas por fracción</a:t>
            </a:r>
          </a:p>
        </c:rich>
      </c:tx>
      <c:layout/>
      <c:overlay val="0"/>
    </c:title>
    <c:autoTitleDeleted val="0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Resto</c:v>
                </c:pt>
              </c:strCache>
            </c:strRef>
          </c:tx>
          <c:spPr>
            <a:solidFill>
              <a:srgbClr val="8A97B1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4213D"/>
                    </a:solidFill>
                    <a:latin typeface="+mn-lt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may</c:v>
                  </c:pt>
                  <c:pt idx="1">
                    <c:v>jun</c:v>
                  </c:pt>
                  <c:pt idx="2">
                    <c:v>jul</c:v>
                  </c:pt>
                  <c:pt idx="3">
                    <c:v>ago</c:v>
                  </c:pt>
                  <c:pt idx="4">
                    <c:v>sep</c:v>
                  </c:pt>
                  <c:pt idx="5">
                    <c:v>oct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1050</c:v>
                </c:pt>
                <c:pt idx="1">
                  <c:v>1250</c:v>
                </c:pt>
                <c:pt idx="2">
                  <c:v>1550</c:v>
                </c:pt>
                <c:pt idx="3">
                  <c:v>1700</c:v>
                </c:pt>
                <c:pt idx="4">
                  <c:v>1300</c:v>
                </c:pt>
                <c:pt idx="5">
                  <c:v>1170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Envases</c:v>
                </c:pt>
              </c:strCache>
            </c:strRef>
          </c:tx>
          <c:spPr>
            <a:solidFill>
              <a:srgbClr val="F2C744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4213D"/>
                    </a:solidFill>
                    <a:latin typeface="+mn-lt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may</c:v>
                  </c:pt>
                  <c:pt idx="1">
                    <c:v>jun</c:v>
                  </c:pt>
                  <c:pt idx="2">
                    <c:v>jul</c:v>
                  </c:pt>
                  <c:pt idx="3">
                    <c:v>ago</c:v>
                  </c:pt>
                  <c:pt idx="4">
                    <c:v>sep</c:v>
                  </c:pt>
                  <c:pt idx="5">
                    <c:v>oct</c:v>
                  </c:pt>
                </c:lvl>
              </c:multiLvlStrCache>
            </c:multiLvl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120</c:v>
                </c:pt>
                <c:pt idx="1">
                  <c:v>140</c:v>
                </c:pt>
                <c:pt idx="2">
                  <c:v>175</c:v>
                </c:pt>
                <c:pt idx="3">
                  <c:v>190</c:v>
                </c:pt>
                <c:pt idx="4">
                  <c:v>150</c:v>
                </c:pt>
                <c:pt idx="5">
                  <c:v>125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Papel</c:v>
                </c:pt>
              </c:strCache>
            </c:strRef>
          </c:tx>
          <c:spPr>
            <a:solidFill>
              <a:srgbClr val="2563B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4213D"/>
                    </a:solidFill>
                    <a:latin typeface="+mn-lt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may</c:v>
                  </c:pt>
                  <c:pt idx="1">
                    <c:v>jun</c:v>
                  </c:pt>
                  <c:pt idx="2">
                    <c:v>jul</c:v>
                  </c:pt>
                  <c:pt idx="3">
                    <c:v>ago</c:v>
                  </c:pt>
                  <c:pt idx="4">
                    <c:v>sep</c:v>
                  </c:pt>
                  <c:pt idx="5">
                    <c:v>oct</c:v>
                  </c:pt>
                </c:lvl>
              </c:multiLvlStrCache>
            </c:multiLvlStrRef>
          </c:cat>
          <c:val>
            <c:numRef>
              <c:f>Sheet1!$D$2:$D$7</c:f>
              <c:numCache>
                <c:formatCode>General</c:formatCode>
                <c:ptCount val="6"/>
                <c:pt idx="0">
                  <c:v>90</c:v>
                </c:pt>
                <c:pt idx="1">
                  <c:v>100</c:v>
                </c:pt>
                <c:pt idx="2">
                  <c:v>120</c:v>
                </c:pt>
                <c:pt idx="3">
                  <c:v>125</c:v>
                </c:pt>
                <c:pt idx="4">
                  <c:v>105</c:v>
                </c:pt>
                <c:pt idx="5">
                  <c:v>85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Vidrio</c:v>
                </c:pt>
              </c:strCache>
            </c:strRef>
          </c:tx>
          <c:spPr>
            <a:solidFill>
              <a:srgbClr val="2F9E5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4213D"/>
                    </a:solidFill>
                    <a:latin typeface="+mn-lt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may</c:v>
                  </c:pt>
                  <c:pt idx="1">
                    <c:v>jun</c:v>
                  </c:pt>
                  <c:pt idx="2">
                    <c:v>jul</c:v>
                  </c:pt>
                  <c:pt idx="3">
                    <c:v>ago</c:v>
                  </c:pt>
                  <c:pt idx="4">
                    <c:v>sep</c:v>
                  </c:pt>
                  <c:pt idx="5">
                    <c:v>oct</c:v>
                  </c:pt>
                </c:lvl>
              </c:multiLvlStrCache>
            </c:multiLvlStrRef>
          </c:cat>
          <c:val>
            <c:numRef>
              <c:f>Sheet1!$E$2:$E$7</c:f>
              <c:numCache>
                <c:formatCode>General</c:formatCode>
                <c:ptCount val="6"/>
                <c:pt idx="0">
                  <c:v>80</c:v>
                </c:pt>
                <c:pt idx="1">
                  <c:v>100</c:v>
                </c:pt>
                <c:pt idx="2">
                  <c:v>135</c:v>
                </c:pt>
                <c:pt idx="3">
                  <c:v>150</c:v>
                </c:pt>
                <c:pt idx="4">
                  <c:v>110</c:v>
                </c:pt>
                <c:pt idx="5">
                  <c:v>65</c:v>
                </c:pt>
              </c:numCache>
            </c:numRef>
          </c:val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Orgánica</c:v>
                </c:pt>
              </c:strCache>
            </c:strRef>
          </c:tx>
          <c:spPr>
            <a:solidFill>
              <a:srgbClr val="A0522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4213D"/>
                    </a:solidFill>
                    <a:latin typeface="+mn-lt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may</c:v>
                  </c:pt>
                  <c:pt idx="1">
                    <c:v>jun</c:v>
                  </c:pt>
                  <c:pt idx="2">
                    <c:v>jul</c:v>
                  </c:pt>
                  <c:pt idx="3">
                    <c:v>ago</c:v>
                  </c:pt>
                  <c:pt idx="4">
                    <c:v>sep</c:v>
                  </c:pt>
                  <c:pt idx="5">
                    <c:v>oct</c:v>
                  </c:pt>
                </c:lvl>
              </c:multiLvlStrCache>
            </c:multiLvlStrRef>
          </c:cat>
          <c:val>
            <c:numRef>
              <c:f>Sheet1!$F$2:$F$7</c:f>
              <c:numCache>
                <c:formatCode>General</c:formatCode>
                <c:ptCount val="6"/>
                <c:pt idx="0">
                  <c:v>60</c:v>
                </c:pt>
                <c:pt idx="1">
                  <c:v>70</c:v>
                </c:pt>
                <c:pt idx="2">
                  <c:v>85</c:v>
                </c:pt>
                <c:pt idx="3">
                  <c:v>95</c:v>
                </c:pt>
                <c:pt idx="4">
                  <c:v>75</c:v>
                </c:pt>
                <c:pt idx="5">
                  <c:v>35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14213D"/>
                  </a:solidFill>
                  <a:latin typeface="+mn-lt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50"/>
        <c:overlap val="10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B88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9525" cap="flat">
              <a:solidFill>
                <a:srgbClr val="E3E8F0"/>
              </a:solidFill>
              <a:prstDash val="solid"/>
              <a:round/>
            </a:ln>
          </c:spPr>
        </c:majorGridlines>
        <c:numFmt formatCode="#,##0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B88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5B6B88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0B2A55"/>
                </a:solidFill>
                <a:latin typeface="+mn-lt"/>
              </a:defRPr>
            </a:pPr>
            <a:r>
              <a:rPr sz="1300" b="0" i="0" u="none" strike="noStrike">
                <a:solidFill>
                  <a:srgbClr val="0B2A55"/>
                </a:solidFill>
                <a:latin typeface="+mn-lt"/>
              </a:rPr>
              <a:t>Ocupación de parkings de playa (%) · sábado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Real</c:v>
                </c:pt>
              </c:strCache>
            </c:strRef>
          </c:tx>
          <c:spPr>
            <a:solidFill>
              <a:srgbClr val="8A97B1"/>
            </a:solidFill>
            <a:ln w="38100" cap="flat">
              <a:solidFill>
                <a:srgbClr val="8A97B1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4213D"/>
                    </a:solidFill>
                    <a:latin typeface="+mn-lt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8A97B1"/>
              </a:solidFill>
              <a:ln w="9525" cap="flat">
                <a:solidFill>
                  <a:srgbClr val="8A97B1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Sheet1!$A$2:$A$14</c:f>
              <c:multiLvlStrCache>
                <c:ptCount val="13"/>
                <c:lvl>
                  <c:pt idx="0">
                    <c:v>8h</c:v>
                  </c:pt>
                  <c:pt idx="1">
                    <c:v>9h</c:v>
                  </c:pt>
                  <c:pt idx="2">
                    <c:v>10h</c:v>
                  </c:pt>
                  <c:pt idx="3">
                    <c:v>11h</c:v>
                  </c:pt>
                  <c:pt idx="4">
                    <c:v>12h</c:v>
                  </c:pt>
                  <c:pt idx="5">
                    <c:v>13h</c:v>
                  </c:pt>
                  <c:pt idx="6">
                    <c:v>14h</c:v>
                  </c:pt>
                  <c:pt idx="7">
                    <c:v>15h</c:v>
                  </c:pt>
                  <c:pt idx="8">
                    <c:v>16h</c:v>
                  </c:pt>
                  <c:pt idx="9">
                    <c:v>17h</c:v>
                  </c:pt>
                  <c:pt idx="10">
                    <c:v>18h</c:v>
                  </c:pt>
                  <c:pt idx="11">
                    <c:v>19h</c:v>
                  </c:pt>
                  <c:pt idx="12">
                    <c:v>20h</c:v>
                  </c:pt>
                </c:lvl>
              </c:multiLvlStrCache>
            </c:multiLvlStrRef>
          </c:cat>
          <c:val>
            <c:numRef>
              <c:f>Sheet1!$B$2:$B$14</c:f>
              <c:numCache>
                <c:formatCode>General</c:formatCode>
                <c:ptCount val="13"/>
                <c:pt idx="0">
                  <c:v>20</c:v>
                </c:pt>
                <c:pt idx="1">
                  <c:v>32</c:v>
                </c:pt>
                <c:pt idx="2">
                  <c:v>51</c:v>
                </c:pt>
                <c:pt idx="3">
                  <c:v>70</c:v>
                </c:pt>
                <c:pt idx="4">
                  <c:v>86</c:v>
                </c:pt>
                <c:pt idx="5">
                  <c:v/>
                </c:pt>
                <c:pt idx="6">
                  <c:v/>
                </c:pt>
                <c:pt idx="7">
                  <c:v/>
                </c:pt>
                <c:pt idx="8">
                  <c:v/>
                </c:pt>
                <c:pt idx="9">
                  <c:v/>
                </c:pt>
                <c:pt idx="10">
                  <c:v/>
                </c:pt>
                <c:pt idx="11">
                  <c:v/>
                </c:pt>
                <c:pt idx="12">
                  <c:v/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Previsión</c:v>
                </c:pt>
              </c:strCache>
            </c:strRef>
          </c:tx>
          <c:spPr>
            <a:solidFill>
              <a:srgbClr val="2563B0"/>
            </a:solidFill>
            <a:ln w="38100" cap="flat">
              <a:solidFill>
                <a:srgbClr val="2563B0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4213D"/>
                    </a:solidFill>
                    <a:latin typeface="+mn-lt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2563B0"/>
              </a:solidFill>
              <a:ln w="9525" cap="flat">
                <a:solidFill>
                  <a:srgbClr val="2563B0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Sheet1!$A$2:$A$14</c:f>
              <c:multiLvlStrCache>
                <c:ptCount val="13"/>
                <c:lvl>
                  <c:pt idx="0">
                    <c:v>8h</c:v>
                  </c:pt>
                  <c:pt idx="1">
                    <c:v>9h</c:v>
                  </c:pt>
                  <c:pt idx="2">
                    <c:v>10h</c:v>
                  </c:pt>
                  <c:pt idx="3">
                    <c:v>11h</c:v>
                  </c:pt>
                  <c:pt idx="4">
                    <c:v>12h</c:v>
                  </c:pt>
                  <c:pt idx="5">
                    <c:v>13h</c:v>
                  </c:pt>
                  <c:pt idx="6">
                    <c:v>14h</c:v>
                  </c:pt>
                  <c:pt idx="7">
                    <c:v>15h</c:v>
                  </c:pt>
                  <c:pt idx="8">
                    <c:v>16h</c:v>
                  </c:pt>
                  <c:pt idx="9">
                    <c:v>17h</c:v>
                  </c:pt>
                  <c:pt idx="10">
                    <c:v>18h</c:v>
                  </c:pt>
                  <c:pt idx="11">
                    <c:v>19h</c:v>
                  </c:pt>
                  <c:pt idx="12">
                    <c:v>20h</c:v>
                  </c:pt>
                </c:lvl>
              </c:multiLvlStrCache>
            </c:multiLvlStrRef>
          </c:cat>
          <c:val>
            <c:numRef>
              <c:f>Sheet1!$C$2:$C$14</c:f>
              <c:numCache>
                <c:formatCode>General</c:formatCode>
                <c:ptCount val="13"/>
                <c:pt idx="0">
                  <c:v/>
                </c:pt>
                <c:pt idx="1">
                  <c:v/>
                </c:pt>
                <c:pt idx="2">
                  <c:v/>
                </c:pt>
                <c:pt idx="3">
                  <c:v/>
                </c:pt>
                <c:pt idx="4">
                  <c:v>86</c:v>
                </c:pt>
                <c:pt idx="5">
                  <c:v>95</c:v>
                </c:pt>
                <c:pt idx="6">
                  <c:v>98</c:v>
                </c:pt>
                <c:pt idx="7">
                  <c:v>97</c:v>
                </c:pt>
                <c:pt idx="8">
                  <c:v>93</c:v>
                </c:pt>
                <c:pt idx="9">
                  <c:v>85</c:v>
                </c:pt>
                <c:pt idx="10">
                  <c:v>72</c:v>
                </c:pt>
                <c:pt idx="11">
                  <c:v>55</c:v>
                </c:pt>
                <c:pt idx="12">
                  <c:v>38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Umbral de saturación</c:v>
                </c:pt>
              </c:strCache>
            </c:strRef>
          </c:tx>
          <c:spPr>
            <a:solidFill>
              <a:srgbClr val="E05A4D"/>
            </a:solidFill>
            <a:ln w="38100" cap="flat">
              <a:solidFill>
                <a:srgbClr val="E05A4D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4213D"/>
                    </a:solidFill>
                    <a:latin typeface="+mn-lt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E05A4D"/>
              </a:solidFill>
              <a:ln w="9525" cap="flat">
                <a:solidFill>
                  <a:srgbClr val="E05A4D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Sheet1!$A$2:$A$14</c:f>
              <c:multiLvlStrCache>
                <c:ptCount val="13"/>
                <c:lvl>
                  <c:pt idx="0">
                    <c:v>8h</c:v>
                  </c:pt>
                  <c:pt idx="1">
                    <c:v>9h</c:v>
                  </c:pt>
                  <c:pt idx="2">
                    <c:v>10h</c:v>
                  </c:pt>
                  <c:pt idx="3">
                    <c:v>11h</c:v>
                  </c:pt>
                  <c:pt idx="4">
                    <c:v>12h</c:v>
                  </c:pt>
                  <c:pt idx="5">
                    <c:v>13h</c:v>
                  </c:pt>
                  <c:pt idx="6">
                    <c:v>14h</c:v>
                  </c:pt>
                  <c:pt idx="7">
                    <c:v>15h</c:v>
                  </c:pt>
                  <c:pt idx="8">
                    <c:v>16h</c:v>
                  </c:pt>
                  <c:pt idx="9">
                    <c:v>17h</c:v>
                  </c:pt>
                  <c:pt idx="10">
                    <c:v>18h</c:v>
                  </c:pt>
                  <c:pt idx="11">
                    <c:v>19h</c:v>
                  </c:pt>
                  <c:pt idx="12">
                    <c:v>20h</c:v>
                  </c:pt>
                </c:lvl>
              </c:multiLvlStrCache>
            </c:multiLvlStrRef>
          </c:cat>
          <c:val>
            <c:numRef>
              <c:f>Sheet1!$D$2:$D$14</c:f>
              <c:numCache>
                <c:formatCode>General</c:formatCode>
                <c:ptCount val="13"/>
                <c:pt idx="0">
                  <c:v>95</c:v>
                </c:pt>
                <c:pt idx="1">
                  <c:v>95</c:v>
                </c:pt>
                <c:pt idx="2">
                  <c:v>95</c:v>
                </c:pt>
                <c:pt idx="3">
                  <c:v>95</c:v>
                </c:pt>
                <c:pt idx="4">
                  <c:v>95</c:v>
                </c:pt>
                <c:pt idx="5">
                  <c:v>95</c:v>
                </c:pt>
                <c:pt idx="6">
                  <c:v>95</c:v>
                </c:pt>
                <c:pt idx="7">
                  <c:v>95</c:v>
                </c:pt>
                <c:pt idx="8">
                  <c:v>95</c:v>
                </c:pt>
                <c:pt idx="9">
                  <c:v>95</c:v>
                </c:pt>
                <c:pt idx="10">
                  <c:v>95</c:v>
                </c:pt>
                <c:pt idx="11">
                  <c:v>95</c:v>
                </c:pt>
                <c:pt idx="12">
                  <c:v>95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14213D"/>
                  </a:solidFill>
                  <a:latin typeface="+mn-lt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B88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  <c:min val="0"/>
        </c:scaling>
        <c:delete val="0"/>
        <c:axPos val="l"/>
        <c:majorGridlines>
          <c:spPr>
            <a:ln w="9525" cap="flat">
              <a:solidFill>
                <a:srgbClr val="E3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B88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5B6B88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gap"/>
  </c:chart>
  <c:spPr>
    <a:noFill/>
    <a:ln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0B2A55"/>
                </a:solidFill>
                <a:latin typeface="+mn-lt"/>
              </a:defRPr>
            </a:pPr>
            <a:r>
              <a:rPr sz="1300" b="0" i="0" u="none" strike="noStrike">
                <a:solidFill>
                  <a:srgbClr val="0B2A55"/>
                </a:solidFill>
                <a:latin typeface="+mn-lt"/>
              </a:rPr>
              <a:t>Incidencias en vía pública por núcleo · último mes (58)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Incidencias</c:v>
                </c:pt>
              </c:strCache>
            </c:strRef>
          </c:tx>
          <c:spPr>
            <a:solidFill>
              <a:srgbClr val="0B2A55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4213D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0B2A55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B2A55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0B2A55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0B2A55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0B2A55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0B2A55"/>
              </a:solidFill>
              <a:effectLst/>
            </c:spPr>
          </c:dPt>
          <c:dPt>
            <c:idx val="6"/>
            <c:invertIfNegative val="0"/>
            <c:bubble3D val="0"/>
            <c:spPr>
              <a:solidFill>
                <a:srgbClr val="0B2A55"/>
              </a:solidFill>
              <a:effectLst/>
            </c:spPr>
          </c:dPt>
          <c:cat>
            <c:multiLvlStrRef>
              <c:f>Sheet1!$A$2:$A$8</c:f>
              <c:multiLvlStrCache>
                <c:ptCount val="7"/>
                <c:lvl>
                  <c:pt idx="0">
                    <c:v>San José</c:v>
                  </c:pt>
                  <c:pt idx="1">
                    <c:v>Níjar</c:v>
                  </c:pt>
                  <c:pt idx="2">
                    <c:v>Campohermoso</c:v>
                  </c:pt>
                  <c:pt idx="3">
                    <c:v>San Isidro</c:v>
                  </c:pt>
                  <c:pt idx="4">
                    <c:v>Las Negras</c:v>
                  </c:pt>
                  <c:pt idx="5">
                    <c:v>Agua Amarga</c:v>
                  </c:pt>
                  <c:pt idx="6">
                    <c:v>Otros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14</c:v>
                </c:pt>
                <c:pt idx="1">
                  <c:v>12</c:v>
                </c:pt>
                <c:pt idx="2">
                  <c:v>11</c:v>
                </c:pt>
                <c:pt idx="3">
                  <c:v>9</c:v>
                </c:pt>
                <c:pt idx="4">
                  <c:v>5</c:v>
                </c:pt>
                <c:pt idx="5">
                  <c:v>4</c:v>
                </c:pt>
                <c:pt idx="6">
                  <c:v>3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14213D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0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B88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B88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0B2A55"/>
                </a:solidFill>
                <a:latin typeface="+mn-lt"/>
              </a:defRPr>
            </a:pPr>
            <a:r>
              <a:rPr sz="1300" b="0" i="0" u="none" strike="noStrike">
                <a:solidFill>
                  <a:srgbClr val="0B2A55"/>
                </a:solidFill>
                <a:latin typeface="+mn-lt"/>
              </a:rPr>
              <a:t>Consumo eléctrico mensual de edificios (MWh)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2025</c:v>
                </c:pt>
              </c:strCache>
            </c:strRef>
          </c:tx>
          <c:spPr>
            <a:solidFill>
              <a:srgbClr val="B8C2D6"/>
            </a:solidFill>
            <a:ln w="38100" cap="flat">
              <a:solidFill>
                <a:srgbClr val="B8C2D6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4213D"/>
                    </a:solidFill>
                    <a:latin typeface="+mn-lt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B8C2D6"/>
              </a:solidFill>
              <a:ln w="9525" cap="flat">
                <a:solidFill>
                  <a:srgbClr val="B8C2D6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Sheet1!$A$2:$A$13</c:f>
              <c:multiLvlStrCache>
                <c:ptCount val="12"/>
                <c:lvl>
                  <c:pt idx="0">
                    <c:v>ene</c:v>
                  </c:pt>
                  <c:pt idx="1">
                    <c:v>feb</c:v>
                  </c:pt>
                  <c:pt idx="2">
                    <c:v>mar</c:v>
                  </c:pt>
                  <c:pt idx="3">
                    <c:v>abr</c:v>
                  </c:pt>
                  <c:pt idx="4">
                    <c:v>may</c:v>
                  </c:pt>
                  <c:pt idx="5">
                    <c:v>jun</c:v>
                  </c:pt>
                  <c:pt idx="6">
                    <c:v>jul</c:v>
                  </c:pt>
                  <c:pt idx="7">
                    <c:v>ago</c:v>
                  </c:pt>
                  <c:pt idx="8">
                    <c:v>sep</c:v>
                  </c:pt>
                  <c:pt idx="9">
                    <c:v>oct</c:v>
                  </c:pt>
                  <c:pt idx="10">
                    <c:v>nov</c:v>
                  </c:pt>
                  <c:pt idx="11">
                    <c:v>dic</c:v>
                  </c:pt>
                </c:lvl>
              </c:multiLvlStrCache>
            </c:multiLvl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520</c:v>
                </c:pt>
                <c:pt idx="1">
                  <c:v>505</c:v>
                </c:pt>
                <c:pt idx="2">
                  <c:v>480</c:v>
                </c:pt>
                <c:pt idx="3">
                  <c:v>455</c:v>
                </c:pt>
                <c:pt idx="4">
                  <c:v>470</c:v>
                </c:pt>
                <c:pt idx="5">
                  <c:v>520</c:v>
                </c:pt>
                <c:pt idx="6">
                  <c:v>590</c:v>
                </c:pt>
                <c:pt idx="7">
                  <c:v>610</c:v>
                </c:pt>
                <c:pt idx="8">
                  <c:v>540</c:v>
                </c:pt>
                <c:pt idx="9">
                  <c:v>500</c:v>
                </c:pt>
                <c:pt idx="10">
                  <c:v>510</c:v>
                </c:pt>
                <c:pt idx="11">
                  <c:v>545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2026</c:v>
                </c:pt>
              </c:strCache>
            </c:strRef>
          </c:tx>
          <c:spPr>
            <a:solidFill>
              <a:srgbClr val="17A394"/>
            </a:solidFill>
            <a:ln w="38100" cap="flat">
              <a:solidFill>
                <a:srgbClr val="17A394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4213D"/>
                    </a:solidFill>
                    <a:latin typeface="+mn-lt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17A394"/>
              </a:solidFill>
              <a:ln w="9525" cap="flat">
                <a:solidFill>
                  <a:srgbClr val="17A394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Sheet1!$A$2:$A$13</c:f>
              <c:multiLvlStrCache>
                <c:ptCount val="12"/>
                <c:lvl>
                  <c:pt idx="0">
                    <c:v>ene</c:v>
                  </c:pt>
                  <c:pt idx="1">
                    <c:v>feb</c:v>
                  </c:pt>
                  <c:pt idx="2">
                    <c:v>mar</c:v>
                  </c:pt>
                  <c:pt idx="3">
                    <c:v>abr</c:v>
                  </c:pt>
                  <c:pt idx="4">
                    <c:v>may</c:v>
                  </c:pt>
                  <c:pt idx="5">
                    <c:v>jun</c:v>
                  </c:pt>
                  <c:pt idx="6">
                    <c:v>jul</c:v>
                  </c:pt>
                  <c:pt idx="7">
                    <c:v>ago</c:v>
                  </c:pt>
                  <c:pt idx="8">
                    <c:v>sep</c:v>
                  </c:pt>
                  <c:pt idx="9">
                    <c:v>oct</c:v>
                  </c:pt>
                  <c:pt idx="10">
                    <c:v>nov</c:v>
                  </c:pt>
                  <c:pt idx="11">
                    <c:v>dic</c:v>
                  </c:pt>
                </c:lvl>
              </c:multiLvlStrCache>
            </c:multiLvlStrRef>
          </c:cat>
          <c:val>
            <c:numRef>
              <c:f>Sheet1!$C$2:$C$13</c:f>
              <c:numCache>
                <c:formatCode>General</c:formatCode>
                <c:ptCount val="12"/>
                <c:pt idx="0">
                  <c:v>490</c:v>
                </c:pt>
                <c:pt idx="1">
                  <c:v>470</c:v>
                </c:pt>
                <c:pt idx="2">
                  <c:v>452</c:v>
                </c:pt>
                <c:pt idx="3">
                  <c:v>428</c:v>
                </c:pt>
                <c:pt idx="4">
                  <c:v>441</c:v>
                </c:pt>
                <c:pt idx="5">
                  <c:v>488</c:v>
                </c:pt>
                <c:pt idx="6">
                  <c:v>553</c:v>
                </c:pt>
                <c:pt idx="7">
                  <c:v>571</c:v>
                </c:pt>
                <c:pt idx="8">
                  <c:v>507</c:v>
                </c:pt>
                <c:pt idx="9">
                  <c:v>468</c:v>
                </c:pt>
                <c:pt idx="10">
                  <c:v/>
                </c:pt>
                <c:pt idx="11">
                  <c:v/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Previsión 2026</c:v>
                </c:pt>
              </c:strCache>
            </c:strRef>
          </c:tx>
          <c:spPr>
            <a:solidFill>
              <a:srgbClr val="F2A93B"/>
            </a:solidFill>
            <a:ln w="38100" cap="flat">
              <a:solidFill>
                <a:srgbClr val="F2A93B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4213D"/>
                    </a:solidFill>
                    <a:latin typeface="+mn-lt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F2A93B"/>
              </a:solidFill>
              <a:ln w="9525" cap="flat">
                <a:solidFill>
                  <a:srgbClr val="F2A93B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Sheet1!$A$2:$A$13</c:f>
              <c:multiLvlStrCache>
                <c:ptCount val="12"/>
                <c:lvl>
                  <c:pt idx="0">
                    <c:v>ene</c:v>
                  </c:pt>
                  <c:pt idx="1">
                    <c:v>feb</c:v>
                  </c:pt>
                  <c:pt idx="2">
                    <c:v>mar</c:v>
                  </c:pt>
                  <c:pt idx="3">
                    <c:v>abr</c:v>
                  </c:pt>
                  <c:pt idx="4">
                    <c:v>may</c:v>
                  </c:pt>
                  <c:pt idx="5">
                    <c:v>jun</c:v>
                  </c:pt>
                  <c:pt idx="6">
                    <c:v>jul</c:v>
                  </c:pt>
                  <c:pt idx="7">
                    <c:v>ago</c:v>
                  </c:pt>
                  <c:pt idx="8">
                    <c:v>sep</c:v>
                  </c:pt>
                  <c:pt idx="9">
                    <c:v>oct</c:v>
                  </c:pt>
                  <c:pt idx="10">
                    <c:v>nov</c:v>
                  </c:pt>
                  <c:pt idx="11">
                    <c:v>dic</c:v>
                  </c:pt>
                </c:lvl>
              </c:multiLvlStrCache>
            </c:multiLvlStrRef>
          </c:cat>
          <c:val>
            <c:numRef>
              <c:f>Sheet1!$D$2:$D$13</c:f>
              <c:numCache>
                <c:formatCode>General</c:formatCode>
                <c:ptCount val="12"/>
                <c:pt idx="0">
                  <c:v/>
                </c:pt>
                <c:pt idx="1">
                  <c:v/>
                </c:pt>
                <c:pt idx="2">
                  <c:v/>
                </c:pt>
                <c:pt idx="3">
                  <c:v/>
                </c:pt>
                <c:pt idx="4">
                  <c:v/>
                </c:pt>
                <c:pt idx="5">
                  <c:v/>
                </c:pt>
                <c:pt idx="6">
                  <c:v/>
                </c:pt>
                <c:pt idx="7">
                  <c:v/>
                </c:pt>
                <c:pt idx="8">
                  <c:v/>
                </c:pt>
                <c:pt idx="9">
                  <c:v>468</c:v>
                </c:pt>
                <c:pt idx="10">
                  <c:v>478</c:v>
                </c:pt>
                <c:pt idx="11">
                  <c:v>512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14213D"/>
                  </a:solidFill>
                  <a:latin typeface="+mn-lt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B88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650"/>
          <c:min val="400"/>
        </c:scaling>
        <c:delete val="0"/>
        <c:axPos val="l"/>
        <c:majorGridlines>
          <c:spPr>
            <a:ln w="9525" cap="flat">
              <a:solidFill>
                <a:srgbClr val="E3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B88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5B6B88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gap"/>
  </c:chart>
  <c:spPr>
    <a:noFill/>
    <a:ln>
      <a:noFill/>
    </a:ln>
    <a:effectLst/>
  </c:sp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0B2A55"/>
                </a:solidFill>
                <a:latin typeface="+mn-lt"/>
              </a:defRPr>
            </a:pPr>
            <a:r>
              <a:rPr sz="1300" b="0" i="0" u="none" strike="noStrike">
                <a:solidFill>
                  <a:srgbClr val="0B2A55"/>
                </a:solidFill>
                <a:latin typeface="+mn-lt"/>
              </a:rPr>
              <a:t>Embudo de decisiones del trimestre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Recomendaciones</c:v>
                </c:pt>
              </c:strCache>
            </c:strRef>
          </c:tx>
          <c:spPr>
            <a:solidFill>
              <a:srgbClr val="17A394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4213D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7A394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17A394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17A394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Propuestas</c:v>
                  </c:pt>
                  <c:pt idx="1">
                    <c:v>Aceptadas</c:v>
                  </c:pt>
                  <c:pt idx="2">
                    <c:v>Ejecutadas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24</c:v>
                </c:pt>
                <c:pt idx="1">
                  <c:v>15</c:v>
                </c:pt>
                <c:pt idx="2">
                  <c:v>9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14213D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35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6B88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B88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Propuesta para el apartado Vista de Gobierno de la Plataforma DTI. Las cifras de los gráficos son ilustrativas y parten de los valores actuales de la plataforma.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2-1.jpg"/><Relationship Id="rId2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ORTADA">
    <p:bg>
      <p:bgPr>
        <a:solidFill>
          <a:srgbClr val="0B2A5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NijarApps/frontend/shared/cabo-de-gata-hero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669280" y="0"/>
            <a:ext cx="6519672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669280" y="0"/>
            <a:ext cx="6519672" cy="6858000"/>
          </a:xfrm>
          <a:prstGeom prst="rect">
            <a:avLst/>
          </a:prstGeom>
          <a:solidFill>
            <a:srgbClr val="0B2A55">
              <a:alpha val="55000"/>
            </a:srgbClr>
          </a:solidFill>
          <a:ln/>
        </p:spPr>
      </p:sp>
      <p:sp>
        <p:nvSpPr>
          <p:cNvPr id="4" name="Text 1"/>
          <p:cNvSpPr/>
          <p:nvPr>
            <p:ph idx="102" type="body" hasCustomPrompt="1"/>
          </p:nvPr>
        </p:nvSpPr>
        <p:spPr>
          <a:xfrm>
            <a:off x="640080" y="1417320"/>
            <a:ext cx="4937760" cy="3657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300" b="1" spc="300" kern="0" dirty="0">
                <a:solidFill>
                  <a:schemeClr val="accent2"/>
                </a:solidFill>
              </a:defRPr>
            </a:lvl1pPr>
          </a:lstStyle>
          <a:p>
            <a:pPr indent="0" marL="0">
              <a:buNone/>
            </a:pPr>
            <a:endParaRPr lang="en-US" sz="1300" dirty="0"/>
          </a:p>
        </p:txBody>
      </p:sp>
      <p:sp>
        <p:nvSpPr>
          <p:cNvPr id="5" name="Text 1"/>
          <p:cNvSpPr/>
          <p:nvPr>
            <p:ph idx="103" type="title" hasCustomPrompt="1"/>
          </p:nvPr>
        </p:nvSpPr>
        <p:spPr>
          <a:xfrm>
            <a:off x="640080" y="1828800"/>
            <a:ext cx="4937760" cy="2011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6" name="Text 1"/>
          <p:cNvSpPr/>
          <p:nvPr>
            <p:ph idx="104" type="body" hasCustomPrompt="1"/>
          </p:nvPr>
        </p:nvSpPr>
        <p:spPr>
          <a:xfrm>
            <a:off x="640080" y="3931920"/>
            <a:ext cx="475488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600" dirty="0">
                <a:solidFill>
                  <a:srgbClr val="C9D6EA"/>
                </a:solidFill>
              </a:defRPr>
            </a:lvl1pPr>
          </a:lstStyle>
          <a:p>
            <a:pPr indent="0" marL="0">
              <a:buNone/>
            </a:pPr>
            <a:endParaRPr lang="en-US" sz="16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IDO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88"/>
                </a:solidFill>
              </a:rPr>
              <a:t>Plataforma DTI Níjar · Propuesta de mejora · Vista de Gobierno</a:t>
            </a:r>
            <a:endParaRPr lang="en-US" sz="1000" dirty="0"/>
          </a:p>
        </p:txBody>
      </p:sp>
      <p:sp>
        <p:nvSpPr>
          <p:cNvPr id="3" name="Text 1"/>
          <p:cNvSpPr/>
          <p:nvPr>
            <p:ph idx="101" type="body" hasCustomPrompt="1"/>
          </p:nvPr>
        </p:nvSpPr>
        <p:spPr>
          <a:xfrm>
            <a:off x="548640" y="320040"/>
            <a:ext cx="8229600" cy="3200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200" b="1" spc="200" kern="0" dirty="0">
                <a:solidFill>
                  <a:schemeClr val="accent1"/>
                </a:solidFill>
              </a:defRPr>
            </a:lvl1pPr>
          </a:lstStyle>
          <a:p>
            <a:pPr indent="0" marL="0">
              <a:buNone/>
            </a:pPr>
            <a:endParaRPr lang="en-US" sz="1200" dirty="0"/>
          </a:p>
        </p:txBody>
      </p:sp>
      <p:sp>
        <p:nvSpPr>
          <p:cNvPr id="4" name="Text 1"/>
          <p:cNvSpPr/>
          <p:nvPr>
            <p:ph idx="102" type="title" hasCustomPrompt="1"/>
          </p:nvPr>
        </p:nvSpPr>
        <p:spPr>
          <a:xfrm>
            <a:off x="548640" y="640080"/>
            <a:ext cx="11064240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8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OSCURO">
    <p:bg>
      <p:bgPr>
        <a:solidFill>
          <a:srgbClr val="0B2A5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EA3C4"/>
                </a:solidFill>
              </a:rPr>
              <a:t>Plataforma DTI Níjar · Propuesta de mejora · Vista de Gobierno</a:t>
            </a:r>
            <a:endParaRPr lang="en-US" sz="1000" dirty="0"/>
          </a:p>
        </p:txBody>
      </p:sp>
      <p:sp>
        <p:nvSpPr>
          <p:cNvPr id="3" name="Text 1"/>
          <p:cNvSpPr/>
          <p:nvPr>
            <p:ph idx="101" type="body" hasCustomPrompt="1"/>
          </p:nvPr>
        </p:nvSpPr>
        <p:spPr>
          <a:xfrm>
            <a:off x="548640" y="320040"/>
            <a:ext cx="8229600" cy="3200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200" b="1" spc="200" kern="0" dirty="0">
                <a:solidFill>
                  <a:schemeClr val="accent2"/>
                </a:solidFill>
              </a:defRPr>
            </a:lvl1pPr>
          </a:lstStyle>
          <a:p>
            <a:pPr indent="0" marL="0">
              <a:buNone/>
            </a:pPr>
            <a:endParaRPr lang="en-US" sz="1200" dirty="0"/>
          </a:p>
        </p:txBody>
      </p:sp>
      <p:sp>
        <p:nvSpPr>
          <p:cNvPr id="4" name="Text 1"/>
          <p:cNvSpPr/>
          <p:nvPr>
            <p:ph idx="102" type="title" hasCustomPrompt="1"/>
          </p:nvPr>
        </p:nvSpPr>
        <p:spPr>
          <a:xfrm>
            <a:off x="548640" y="640080"/>
            <a:ext cx="11064240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EA3C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8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7.png"/><Relationship Id="rId8" Type="http://schemas.openxmlformats.org/officeDocument/2006/relationships/slideLayout" Target="../slideLayouts/slideLayout3.xml"/><Relationship Id="rId9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1.xml"/><Relationship Id="rId1" Type="http://schemas.openxmlformats.org/officeDocument/2006/relationships/image" Target="../media/image-5-1.jpg"/><Relationship Id="rId3" Type="http://schemas.openxmlformats.org/officeDocument/2006/relationships/image" Target="../media/image-5-2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image" Target="../media/image-6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image" Target="../media/image-7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image" Target="../media/image-8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5.xml"/><Relationship Id="rId2" Type="http://schemas.openxmlformats.org/officeDocument/2006/relationships/image" Target="../media/image-9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6.xml"/><Relationship Id="rId2" Type="http://schemas.openxmlformats.org/officeDocument/2006/relationships/image" Target="../media/image-10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7.xml"/><Relationship Id="rId2" Type="http://schemas.openxmlformats.org/officeDocument/2006/relationships/image" Target="../media/image-11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8.xml"/><Relationship Id="rId2" Type="http://schemas.openxmlformats.org/officeDocument/2006/relationships/image" Target="../media/image-12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9.xml"/><Relationship Id="rId2" Type="http://schemas.openxmlformats.org/officeDocument/2006/relationships/image" Target="../media/image-13-1.png"/><Relationship Id="rId3" Type="http://schemas.openxmlformats.org/officeDocument/2006/relationships/image" Target="../media/image-13-2.png"/><Relationship Id="rId4" Type="http://schemas.openxmlformats.org/officeDocument/2006/relationships/image" Target="../media/image-13-3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image" Target="../media/image-15-4.png"/><Relationship Id="rId5" Type="http://schemas.openxmlformats.org/officeDocument/2006/relationships/image" Target="../media/image-15-5.png"/><Relationship Id="rId6" Type="http://schemas.openxmlformats.org/officeDocument/2006/relationships/image" Target="../media/image-15-6.jpg"/><Relationship Id="rId7" Type="http://schemas.openxmlformats.org/officeDocument/2006/relationships/slideLayout" Target="../slideLayouts/slideLayout4.xml"/><Relationship Id="rId8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502920"/>
            <a:ext cx="548640" cy="73152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1325880" y="64008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Ayuntamiento de Níjar · Smart City</a:t>
            </a:r>
            <a:endParaRPr lang="en-US" sz="1400" dirty="0"/>
          </a:p>
        </p:txBody>
      </p:sp>
      <p:sp>
        <p:nvSpPr>
          <p:cNvPr id="4" name="Text 1"/>
          <p:cNvSpPr/>
          <p:nvPr>
            <p:ph idx="102" type="body" hasCustomPrompt="1"/>
          </p:nvPr>
        </p:nvSpPr>
        <p:spPr>
          <a:xfrm>
            <a:off x="640080" y="1417320"/>
            <a:ext cx="4937760" cy="36576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chemeClr val="accent2"/>
                </a:solidFill>
              </a:rPr>
              <a:t>PROPUESTA DE MEJORA</a:t>
            </a:r>
            <a:endParaRPr lang="en-US" sz="1300" dirty="0"/>
          </a:p>
        </p:txBody>
      </p:sp>
      <p:sp>
        <p:nvSpPr>
          <p:cNvPr id="5" name="Text 1"/>
          <p:cNvSpPr/>
          <p:nvPr>
            <p:ph idx="103" type="title" hasCustomPrompt="1"/>
          </p:nvPr>
        </p:nvSpPr>
        <p:spPr>
          <a:xfrm>
            <a:off x="640080" y="1828800"/>
            <a:ext cx="493776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bg1"/>
                </a:solidFill>
              </a:rPr>
              <a:t>Vista de Gobierno 2.0</a:t>
            </a:r>
            <a:endParaRPr lang="en-US" sz="4400" dirty="0"/>
          </a:p>
        </p:txBody>
      </p:sp>
      <p:sp>
        <p:nvSpPr>
          <p:cNvPr id="6" name="Text 1"/>
          <p:cNvSpPr/>
          <p:nvPr>
            <p:ph idx="104" type="body" hasCustomPrompt="1"/>
          </p:nvPr>
        </p:nvSpPr>
        <p:spPr>
          <a:xfrm>
            <a:off x="640080" y="3931920"/>
            <a:ext cx="475488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C9D6EA"/>
                </a:solidFill>
              </a:rPr>
              <a:t>Del semáforo de estado al cuadro de mando de decisión: consumos, costes, previsiones y acciones en cada módulo.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58521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EA3C4"/>
                </a:solidFill>
              </a:rPr>
              <a:t>Octubre 2026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7863840" y="1737360"/>
            <a:ext cx="3291840" cy="1051560"/>
          </a:xfrm>
          <a:prstGeom prst="roundRect">
            <a:avLst>
              <a:gd name="adj" fmla="val 13043"/>
            </a:avLst>
          </a:prstGeom>
          <a:solidFill>
            <a:srgbClr val="FFFFFF">
              <a:alpha val="90000"/>
            </a:srgbClr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0B2A55">
                <a:alpha val="12000"/>
              </a:srgbClr>
            </a:outerShdw>
          </a:effectLst>
        </p:spPr>
      </p:sp>
      <p:sp>
        <p:nvSpPr>
          <p:cNvPr id="9" name="Text 6"/>
          <p:cNvSpPr txBox="1"/>
          <p:nvPr/>
        </p:nvSpPr>
        <p:spPr>
          <a:xfrm>
            <a:off x="8092440" y="1828800"/>
            <a:ext cx="1371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B2A55"/>
                </a:solidFill>
              </a:rPr>
              <a:t>84</a:t>
            </a:r>
            <a:endParaRPr lang="en-US" sz="3400" dirty="0"/>
          </a:p>
        </p:txBody>
      </p:sp>
      <p:sp>
        <p:nvSpPr>
          <p:cNvPr id="10" name="Text 7"/>
          <p:cNvSpPr txBox="1"/>
          <p:nvPr/>
        </p:nvSpPr>
        <p:spPr>
          <a:xfrm>
            <a:off x="9281160" y="1828800"/>
            <a:ext cx="1783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4213D"/>
                </a:solidFill>
              </a:rPr>
              <a:t>Índice de ciudad hoy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7863840" y="3063240"/>
            <a:ext cx="3291840" cy="1051560"/>
          </a:xfrm>
          <a:prstGeom prst="roundRect">
            <a:avLst>
              <a:gd name="adj" fmla="val 13043"/>
            </a:avLst>
          </a:prstGeom>
          <a:solidFill>
            <a:srgbClr val="FFFFFF">
              <a:alpha val="90000"/>
            </a:srgbClr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0B2A55">
                <a:alpha val="12000"/>
              </a:srgbClr>
            </a:outerShdw>
          </a:effectLst>
        </p:spPr>
      </p:sp>
      <p:sp>
        <p:nvSpPr>
          <p:cNvPr id="12" name="Text 9"/>
          <p:cNvSpPr txBox="1"/>
          <p:nvPr/>
        </p:nvSpPr>
        <p:spPr>
          <a:xfrm>
            <a:off x="8092440" y="3154680"/>
            <a:ext cx="1371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B2A55"/>
                </a:solidFill>
              </a:rPr>
              <a:t>7</a:t>
            </a:r>
            <a:endParaRPr lang="en-US" sz="3400" dirty="0"/>
          </a:p>
        </p:txBody>
      </p:sp>
      <p:sp>
        <p:nvSpPr>
          <p:cNvPr id="13" name="Text 10"/>
          <p:cNvSpPr txBox="1"/>
          <p:nvPr/>
        </p:nvSpPr>
        <p:spPr>
          <a:xfrm>
            <a:off x="9281160" y="3154680"/>
            <a:ext cx="1783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4213D"/>
                </a:solidFill>
              </a:rPr>
              <a:t>módulos con previsión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7863840" y="4389120"/>
            <a:ext cx="3291840" cy="1051560"/>
          </a:xfrm>
          <a:prstGeom prst="roundRect">
            <a:avLst>
              <a:gd name="adj" fmla="val 13043"/>
            </a:avLst>
          </a:prstGeom>
          <a:solidFill>
            <a:srgbClr val="FFFFFF">
              <a:alpha val="90000"/>
            </a:srgbClr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0B2A55">
                <a:alpha val="12000"/>
              </a:srgbClr>
            </a:outerShdw>
          </a:effectLst>
        </p:spPr>
      </p:sp>
      <p:sp>
        <p:nvSpPr>
          <p:cNvPr id="15" name="Text 12"/>
          <p:cNvSpPr txBox="1"/>
          <p:nvPr/>
        </p:nvSpPr>
        <p:spPr>
          <a:xfrm>
            <a:off x="8092440" y="4480560"/>
            <a:ext cx="1371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F9E5F"/>
                </a:solidFill>
              </a:rPr>
              <a:t>70 %</a:t>
            </a:r>
            <a:endParaRPr lang="en-US" sz="3400" dirty="0"/>
          </a:p>
        </p:txBody>
      </p:sp>
      <p:sp>
        <p:nvSpPr>
          <p:cNvPr id="16" name="Text 13"/>
          <p:cNvSpPr txBox="1"/>
          <p:nvPr/>
        </p:nvSpPr>
        <p:spPr>
          <a:xfrm>
            <a:off x="9281160" y="4480560"/>
            <a:ext cx="1783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4213D"/>
                </a:solidFill>
              </a:rPr>
              <a:t>KPIs ya con datos reales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3200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LA PROPUESTA EN UNA PÁGINA</a:t>
            </a:r>
            <a:endParaRPr lang="en-US" sz="12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64008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Tres preguntas nuevas que la Vista de Gobierno responderá</a:t>
            </a:r>
            <a:endParaRPr lang="en-US" sz="3000" dirty="0"/>
          </a:p>
        </p:txBody>
      </p:sp>
      <p:sp>
        <p:nvSpPr>
          <p:cNvPr id="4" name="pregunta 1"/>
          <p:cNvSpPr/>
          <p:nvPr/>
        </p:nvSpPr>
        <p:spPr>
          <a:xfrm>
            <a:off x="548640" y="1783080"/>
            <a:ext cx="3474720" cy="27432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9E1EE"/>
            </a:solidFill>
            <a:prstDash val="solid"/>
          </a:ln>
          <a:effectLst>
            <a:outerShdw sx="100000" sy="100000" kx="0" ky="0" algn="bl" rotWithShape="0" blurRad="101600" dist="25400" dir="5400000">
              <a:srgbClr val="0B2A55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2057400"/>
            <a:ext cx="731520" cy="731520"/>
          </a:xfrm>
          <a:prstGeom prst="ellipse">
            <a:avLst/>
          </a:prstGeom>
          <a:solidFill>
            <a:srgbClr val="2563B0"/>
          </a:solidFill>
          <a:ln w="12700">
            <a:solidFill>
              <a:srgbClr val="2563B0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3155" y="2247595"/>
            <a:ext cx="351130" cy="35113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822960" y="2926080"/>
            <a:ext cx="2926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0B2A55"/>
                </a:solidFill>
              </a:rPr>
              <a:t>¿Cuánto nos cuesta y cuánto ahorramos?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3611880"/>
            <a:ext cx="2926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4213D"/>
                </a:solidFill>
              </a:rPr>
              <a:t>Consumo en kWh, m³ y toneladas, coste en euros y ahorro interanual en cada módulo.</a:t>
            </a:r>
            <a:endParaRPr lang="en-US" sz="1400" dirty="0"/>
          </a:p>
        </p:txBody>
      </p:sp>
      <p:sp>
        <p:nvSpPr>
          <p:cNvPr id="9" name="pregunta 2"/>
          <p:cNvSpPr/>
          <p:nvPr/>
        </p:nvSpPr>
        <p:spPr>
          <a:xfrm>
            <a:off x="4297680" y="1783080"/>
            <a:ext cx="3474720" cy="27432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9E1EE"/>
            </a:solidFill>
            <a:prstDash val="solid"/>
          </a:ln>
          <a:effectLst>
            <a:outerShdw sx="100000" sy="100000" kx="0" ky="0" algn="bl" rotWithShape="0" blurRad="101600" dist="25400" dir="5400000">
              <a:srgbClr val="0B2A55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572000" y="2057400"/>
            <a:ext cx="731520" cy="731520"/>
          </a:xfrm>
          <a:prstGeom prst="ellipse">
            <a:avLst/>
          </a:prstGeom>
          <a:solidFill>
            <a:srgbClr val="17A394"/>
          </a:solidFill>
          <a:ln w="12700">
            <a:solidFill>
              <a:srgbClr val="17A394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62195" y="2247595"/>
            <a:ext cx="351130" cy="35113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4572000" y="2926080"/>
            <a:ext cx="2926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0B2A55"/>
                </a:solidFill>
              </a:rPr>
              <a:t>¿Qué va a pasar?</a:t>
            </a:r>
            <a:endParaRPr lang="en-US" sz="1800" dirty="0"/>
          </a:p>
        </p:txBody>
      </p:sp>
      <p:sp>
        <p:nvSpPr>
          <p:cNvPr id="13" name="Text 9"/>
          <p:cNvSpPr txBox="1"/>
          <p:nvPr/>
        </p:nvSpPr>
        <p:spPr>
          <a:xfrm>
            <a:off x="4572000" y="3611880"/>
            <a:ext cx="2926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4213D"/>
                </a:solidFill>
              </a:rPr>
              <a:t>Previsión a 7 y 30 días: visitantes, parkings, contenedores, energía y agua.</a:t>
            </a:r>
            <a:endParaRPr lang="en-US" sz="1400" dirty="0"/>
          </a:p>
        </p:txBody>
      </p:sp>
      <p:sp>
        <p:nvSpPr>
          <p:cNvPr id="14" name="pregunta 3"/>
          <p:cNvSpPr/>
          <p:nvPr/>
        </p:nvSpPr>
        <p:spPr>
          <a:xfrm>
            <a:off x="8046720" y="1783080"/>
            <a:ext cx="3474720" cy="27432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9E1EE"/>
            </a:solidFill>
            <a:prstDash val="solid"/>
          </a:ln>
          <a:effectLst>
            <a:outerShdw sx="100000" sy="100000" kx="0" ky="0" algn="bl" rotWithShape="0" blurRad="101600" dist="25400" dir="5400000">
              <a:srgbClr val="0B2A55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321040" y="2057400"/>
            <a:ext cx="731520" cy="731520"/>
          </a:xfrm>
          <a:prstGeom prst="ellipse">
            <a:avLst/>
          </a:prstGeom>
          <a:solidFill>
            <a:srgbClr val="F2A93B"/>
          </a:solidFill>
          <a:ln w="12700">
            <a:solidFill>
              <a:srgbClr val="F2A93B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11235" y="2247595"/>
            <a:ext cx="351130" cy="351130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8321040" y="2926080"/>
            <a:ext cx="2926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0B2A55"/>
                </a:solidFill>
              </a:rPr>
              <a:t>¿Qué tenemos que decidir?</a:t>
            </a:r>
            <a:endParaRPr lang="en-US" sz="1800" dirty="0"/>
          </a:p>
        </p:txBody>
      </p:sp>
      <p:sp>
        <p:nvSpPr>
          <p:cNvPr id="18" name="Text 13"/>
          <p:cNvSpPr txBox="1"/>
          <p:nvPr/>
        </p:nvSpPr>
        <p:spPr>
          <a:xfrm>
            <a:off x="8321040" y="3611880"/>
            <a:ext cx="2926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4213D"/>
                </a:solidFill>
              </a:rPr>
              <a:t>Una acción priorizada por módulo, con su impacto en euros o servicio y su estado.</a:t>
            </a:r>
            <a:endParaRPr lang="en-US" sz="1400" dirty="0"/>
          </a:p>
        </p:txBody>
      </p:sp>
      <p:sp>
        <p:nvSpPr>
          <p:cNvPr id="19" name="dato clave"/>
          <p:cNvSpPr/>
          <p:nvPr/>
        </p:nvSpPr>
        <p:spPr>
          <a:xfrm>
            <a:off x="548640" y="4800600"/>
            <a:ext cx="11064240" cy="1325880"/>
          </a:xfrm>
          <a:prstGeom prst="roundRect">
            <a:avLst>
              <a:gd name="adj" fmla="val 8276"/>
            </a:avLst>
          </a:prstGeom>
          <a:solidFill>
            <a:srgbClr val="0B2A55"/>
          </a:solidFill>
          <a:ln w="12700">
            <a:solidFill>
              <a:srgbClr val="0B2A55"/>
            </a:solidFill>
            <a:prstDash val="solid"/>
          </a:ln>
          <a:effectLst>
            <a:outerShdw sx="100000" sy="100000" kx="0" ky="0" algn="bl" rotWithShape="0" blurRad="101600" dist="25400" dir="5400000">
              <a:srgbClr val="0B2A55">
                <a:alpha val="12000"/>
              </a:srgbClr>
            </a:outerShdw>
          </a:effectLst>
        </p:spPr>
      </p:sp>
      <p:sp>
        <p:nvSpPr>
          <p:cNvPr id="20" name="Text 15"/>
          <p:cNvSpPr txBox="1"/>
          <p:nvPr/>
        </p:nvSpPr>
        <p:spPr>
          <a:xfrm>
            <a:off x="822960" y="4846320"/>
            <a:ext cx="20116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2A93B"/>
                </a:solidFill>
              </a:rPr>
              <a:t>70 %</a:t>
            </a:r>
            <a:endParaRPr lang="en-US" sz="5400" dirty="0"/>
          </a:p>
        </p:txBody>
      </p:sp>
      <p:sp>
        <p:nvSpPr>
          <p:cNvPr id="21" name="Text 16"/>
          <p:cNvSpPr txBox="1"/>
          <p:nvPr/>
        </p:nvSpPr>
        <p:spPr>
          <a:xfrm>
            <a:off x="2926080" y="4846320"/>
            <a:ext cx="84124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de los indicadores propuestos se construye ya con datos reales de la plataforma. El resto se activa sin rediseño en cuanto lleguen siGEUS, Datadis privado, Bettair, GA4 y Meta/X.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8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3200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PUNTO DE PARTIDA</a:t>
            </a:r>
            <a:endParaRPr lang="en-US" sz="12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64008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De una foto del estado a una herramienta para decidir</a:t>
            </a:r>
            <a:endParaRPr lang="en-US" sz="3000" dirty="0"/>
          </a:p>
        </p:txBody>
      </p:sp>
      <p:sp>
        <p:nvSpPr>
          <p:cNvPr id="4" name="hoy"/>
          <p:cNvSpPr/>
          <p:nvPr/>
        </p:nvSpPr>
        <p:spPr>
          <a:xfrm>
            <a:off x="548640" y="1737360"/>
            <a:ext cx="5212080" cy="4343400"/>
          </a:xfrm>
          <a:prstGeom prst="roundRect">
            <a:avLst>
              <a:gd name="adj" fmla="val 2526"/>
            </a:avLst>
          </a:prstGeom>
          <a:solidFill>
            <a:srgbClr val="F4F6FA"/>
          </a:solidFill>
          <a:ln w="12700">
            <a:solidFill>
              <a:srgbClr val="D9E1EE"/>
            </a:solidFill>
            <a:prstDash val="solid"/>
          </a:ln>
          <a:effectLst>
            <a:outerShdw sx="100000" sy="100000" kx="0" ky="0" algn="bl" rotWithShape="0" blurRad="101600" dist="25400" dir="5400000">
              <a:srgbClr val="0B2A55">
                <a:alpha val="12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868680" y="19202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B6B88"/>
                </a:solidFill>
              </a:rPr>
              <a:t>HOY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2377440"/>
            <a:ext cx="466344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2000"/>
              </a:spcAft>
              <a:buSzPct val="100000"/>
              <a:buChar char="•"/>
            </a:pPr>
            <a:r>
              <a:rPr lang="en-US" sz="1800" dirty="0">
                <a:solidFill>
                  <a:srgbClr val="14213D"/>
                </a:solidFill>
              </a:rPr>
              <a:t>Semáforo y una frase por módulo</a:t>
            </a:r>
            <a:endParaRPr lang="en-US" sz="1800" dirty="0"/>
          </a:p>
          <a:p>
            <a:pPr marL="342900" indent="-342900">
              <a:spcAft>
                <a:spcPts val="2000"/>
              </a:spcAft>
              <a:buSzPct val="100000"/>
              <a:buChar char="•"/>
            </a:pPr>
            <a:r>
              <a:rPr lang="en-US" sz="1800" dirty="0">
                <a:solidFill>
                  <a:srgbClr val="14213D"/>
                </a:solidFill>
              </a:rPr>
              <a:t>4 KPIs puntuales, sin coste</a:t>
            </a:r>
            <a:endParaRPr lang="en-US" sz="1800" dirty="0"/>
          </a:p>
          <a:p>
            <a:pPr marL="342900" indent="-342900">
              <a:spcAft>
                <a:spcPts val="2000"/>
              </a:spcAft>
              <a:buSzPct val="100000"/>
              <a:buChar char="•"/>
            </a:pPr>
            <a:r>
              <a:rPr lang="en-US" sz="1800" dirty="0">
                <a:solidFill>
                  <a:srgbClr val="14213D"/>
                </a:solidFill>
              </a:rPr>
              <a:t>Comparativa interanual aislada</a:t>
            </a:r>
            <a:endParaRPr lang="en-US" sz="1800" dirty="0"/>
          </a:p>
          <a:p>
            <a:pPr marL="342900" indent="-342900">
              <a:spcAft>
                <a:spcPts val="2000"/>
              </a:spcAft>
              <a:buSzPct val="100000"/>
              <a:buChar char="•"/>
            </a:pPr>
            <a:r>
              <a:rPr lang="en-US" sz="1800" dirty="0">
                <a:solidFill>
                  <a:srgbClr val="14213D"/>
                </a:solidFill>
              </a:rPr>
              <a:t>Sin previsión ni desglose territorial</a:t>
            </a:r>
            <a:endParaRPr lang="en-US" sz="1800" dirty="0"/>
          </a:p>
          <a:p>
            <a:pPr marL="342900" indent="-342900">
              <a:spcAft>
                <a:spcPts val="2000"/>
              </a:spcAft>
              <a:buSzPct val="100000"/>
              <a:buChar char="•"/>
            </a:pPr>
            <a:r>
              <a:rPr lang="en-US" sz="1800" dirty="0">
                <a:solidFill>
                  <a:srgbClr val="14213D"/>
                </a:solidFill>
              </a:rPr>
              <a:t>Recomendaciones sin impacto cuantificado</a:t>
            </a:r>
            <a:endParaRPr lang="en-US" sz="1800" dirty="0"/>
          </a:p>
        </p:txBody>
      </p:sp>
      <p:sp>
        <p:nvSpPr>
          <p:cNvPr id="7" name="propuesta"/>
          <p:cNvSpPr/>
          <p:nvPr/>
        </p:nvSpPr>
        <p:spPr>
          <a:xfrm>
            <a:off x="6400800" y="1737360"/>
            <a:ext cx="5212080" cy="4343400"/>
          </a:xfrm>
          <a:prstGeom prst="roundRect">
            <a:avLst>
              <a:gd name="adj" fmla="val 2526"/>
            </a:avLst>
          </a:prstGeom>
          <a:solidFill>
            <a:srgbClr val="0B2A55"/>
          </a:solidFill>
          <a:ln w="12700">
            <a:solidFill>
              <a:srgbClr val="0B2A55"/>
            </a:solidFill>
            <a:prstDash val="solid"/>
          </a:ln>
          <a:effectLst>
            <a:outerShdw sx="100000" sy="100000" kx="0" ky="0" algn="bl" rotWithShape="0" blurRad="101600" dist="25400" dir="5400000">
              <a:srgbClr val="0B2A55">
                <a:alpha val="12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6720840" y="19202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2A93B"/>
                </a:solidFill>
              </a:rPr>
              <a:t>VISTA DE GOBIERNO 2.0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6720840" y="2377440"/>
            <a:ext cx="466344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2000"/>
              </a:spcAft>
              <a:buSzPct val="100000"/>
              <a:buChar char="•"/>
            </a:pPr>
            <a:r>
              <a:rPr lang="en-US" sz="1800" dirty="0">
                <a:solidFill>
                  <a:srgbClr val="FFFFFF"/>
                </a:solidFill>
              </a:rPr>
              <a:t>Franja económica: coste, ahorro y CO₂</a:t>
            </a:r>
            <a:endParaRPr lang="en-US" sz="1800" dirty="0"/>
          </a:p>
          <a:p>
            <a:pPr marL="342900" indent="-342900">
              <a:spcAft>
                <a:spcPts val="2000"/>
              </a:spcAft>
              <a:buSzPct val="100000"/>
              <a:buChar char="•"/>
            </a:pPr>
            <a:r>
              <a:rPr lang="en-US" sz="1800" dirty="0">
                <a:solidFill>
                  <a:srgbClr val="FFFFFF"/>
                </a:solidFill>
              </a:rPr>
              <a:t>Tendencia de 12 a 24 meses en cada módulo</a:t>
            </a:r>
            <a:endParaRPr lang="en-US" sz="1800" dirty="0"/>
          </a:p>
          <a:p>
            <a:pPr marL="342900" indent="-342900">
              <a:spcAft>
                <a:spcPts val="2000"/>
              </a:spcAft>
              <a:buSzPct val="100000"/>
              <a:buChar char="•"/>
            </a:pPr>
            <a:r>
              <a:rPr lang="en-US" sz="1800" dirty="0">
                <a:solidFill>
                  <a:srgbClr val="FFFFFF"/>
                </a:solidFill>
              </a:rPr>
              <a:t>Previsión a 7 y 30 días con intervalo</a:t>
            </a:r>
            <a:endParaRPr lang="en-US" sz="1800" dirty="0"/>
          </a:p>
          <a:p>
            <a:pPr marL="342900" indent="-342900">
              <a:spcAft>
                <a:spcPts val="2000"/>
              </a:spcAft>
              <a:buSzPct val="100000"/>
              <a:buChar char="•"/>
            </a:pPr>
            <a:r>
              <a:rPr lang="en-US" sz="1800" dirty="0">
                <a:solidFill>
                  <a:srgbClr val="FFFFFF"/>
                </a:solidFill>
              </a:rPr>
              <a:t>Mapa por núcleo sobre el gemelo digital</a:t>
            </a:r>
            <a:endParaRPr lang="en-US" sz="1800" dirty="0"/>
          </a:p>
          <a:p>
            <a:pPr marL="342900" indent="-342900">
              <a:spcAft>
                <a:spcPts val="2000"/>
              </a:spcAft>
              <a:buSzPct val="100000"/>
              <a:buChar char="•"/>
            </a:pPr>
            <a:r>
              <a:rPr lang="en-US" sz="1800" dirty="0">
                <a:solidFill>
                  <a:srgbClr val="FFFFFF"/>
                </a:solidFill>
              </a:rPr>
              <a:t>Acciones con € en juego y seguimiento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5852160" y="3611880"/>
            <a:ext cx="457200" cy="548640"/>
          </a:xfrm>
          <a:prstGeom prst="rightArrow">
            <a:avLst/>
          </a:prstGeom>
          <a:solidFill>
            <a:srgbClr val="17A394"/>
          </a:solidFill>
          <a:ln w="12700">
            <a:solidFill>
              <a:srgbClr val="17A394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8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3200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FUENTES DE DATOS</a:t>
            </a:r>
            <a:endParaRPr lang="en-US" sz="12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64008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Cada módulo arranca con datos reales y crece al integrar fuentes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2743200" y="160020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F9E5F"/>
                </a:solidFill>
              </a:rPr>
              <a:t>REAL HOY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8001000" y="16002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77A12"/>
                </a:solidFill>
              </a:rPr>
              <a:t>AL INTEGRAR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48640" y="1920240"/>
            <a:ext cx="11064240" cy="493776"/>
          </a:xfrm>
          <a:prstGeom prst="roundRect">
            <a:avLst>
              <a:gd name="adj" fmla="val 18519"/>
            </a:avLst>
          </a:prstGeom>
          <a:solidFill>
            <a:srgbClr val="F4F7FB"/>
          </a:solidFill>
          <a:ln w="6350">
            <a:solidFill>
              <a:srgbClr val="D9E1E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58368" y="1984248"/>
            <a:ext cx="365760" cy="365760"/>
          </a:xfrm>
          <a:prstGeom prst="ellipse">
            <a:avLst/>
          </a:prstGeom>
          <a:solidFill>
            <a:srgbClr val="E05A4D"/>
          </a:solidFill>
          <a:ln w="12700">
            <a:solidFill>
              <a:srgbClr val="E05A4D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3466" y="2079346"/>
            <a:ext cx="175565" cy="175565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1143000" y="1920240"/>
            <a:ext cx="15544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A55"/>
                </a:solidFill>
              </a:rPr>
              <a:t>Turismo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2743200" y="1920240"/>
            <a:ext cx="51206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213D"/>
                </a:solidFill>
              </a:rPr>
              <a:t>INE, Junta, EGATUR, FRONTUR, AENA, tótems, chatbot, ThingsBoard</a:t>
            </a:r>
            <a:endParaRPr lang="en-US" sz="1200" dirty="0"/>
          </a:p>
        </p:txBody>
      </p:sp>
      <p:sp>
        <p:nvSpPr>
          <p:cNvPr id="11" name="Text 8"/>
          <p:cNvSpPr txBox="1"/>
          <p:nvPr/>
        </p:nvSpPr>
        <p:spPr>
          <a:xfrm>
            <a:off x="8001000" y="1920240"/>
            <a:ext cx="35204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213D"/>
                </a:solidFill>
              </a:rPr>
              <a:t>Meta, X, GA4, app Vive Níjar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548640" y="2487168"/>
            <a:ext cx="11064240" cy="493776"/>
          </a:xfrm>
          <a:prstGeom prst="roundRect">
            <a:avLst>
              <a:gd name="adj" fmla="val 18519"/>
            </a:avLst>
          </a:prstGeom>
          <a:solidFill>
            <a:srgbClr val="FFFFFF"/>
          </a:solidFill>
          <a:ln w="6350">
            <a:solidFill>
              <a:srgbClr val="D9E1EE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658368" y="2551176"/>
            <a:ext cx="365760" cy="365760"/>
          </a:xfrm>
          <a:prstGeom prst="ellipse">
            <a:avLst/>
          </a:prstGeom>
          <a:solidFill>
            <a:srgbClr val="F2A93B"/>
          </a:solidFill>
          <a:ln w="12700">
            <a:solidFill>
              <a:srgbClr val="F2A93B"/>
            </a:solidFill>
            <a:prstDash val="solid"/>
          </a:ln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3466" y="2646274"/>
            <a:ext cx="175565" cy="175565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1143000" y="2487168"/>
            <a:ext cx="15544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A55"/>
                </a:solidFill>
              </a:rPr>
              <a:t>Alumbrado</a:t>
            </a:r>
            <a:endParaRPr lang="en-US" sz="1400" dirty="0"/>
          </a:p>
        </p:txBody>
      </p:sp>
      <p:sp>
        <p:nvSpPr>
          <p:cNvPr id="16" name="Text 12"/>
          <p:cNvSpPr txBox="1"/>
          <p:nvPr/>
        </p:nvSpPr>
        <p:spPr>
          <a:xfrm>
            <a:off x="2743200" y="2487168"/>
            <a:ext cx="51206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213D"/>
                </a:solidFill>
              </a:rPr>
              <a:t>Inventario LED/VSAP, cuadros, incidencias, histórico 2 años</a:t>
            </a:r>
            <a:endParaRPr lang="en-US" sz="1200" dirty="0"/>
          </a:p>
        </p:txBody>
      </p:sp>
      <p:sp>
        <p:nvSpPr>
          <p:cNvPr id="17" name="Text 13"/>
          <p:cNvSpPr txBox="1"/>
          <p:nvPr/>
        </p:nvSpPr>
        <p:spPr>
          <a:xfrm>
            <a:off x="8001000" y="2487168"/>
            <a:ext cx="35204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213D"/>
                </a:solidFill>
              </a:rPr>
              <a:t>Telegestión y curvas por cuadro</a:t>
            </a:r>
            <a:endParaRPr lang="en-US" sz="1200" dirty="0"/>
          </a:p>
        </p:txBody>
      </p:sp>
      <p:sp>
        <p:nvSpPr>
          <p:cNvPr id="18" name="Shape 14"/>
          <p:cNvSpPr/>
          <p:nvPr/>
        </p:nvSpPr>
        <p:spPr>
          <a:xfrm>
            <a:off x="548640" y="3054096"/>
            <a:ext cx="11064240" cy="493776"/>
          </a:xfrm>
          <a:prstGeom prst="roundRect">
            <a:avLst>
              <a:gd name="adj" fmla="val 18519"/>
            </a:avLst>
          </a:prstGeom>
          <a:solidFill>
            <a:srgbClr val="F4F7FB"/>
          </a:solidFill>
          <a:ln w="6350">
            <a:solidFill>
              <a:srgbClr val="D9E1EE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658368" y="3118104"/>
            <a:ext cx="365760" cy="365760"/>
          </a:xfrm>
          <a:prstGeom prst="ellipse">
            <a:avLst/>
          </a:prstGeom>
          <a:solidFill>
            <a:srgbClr val="2563B0"/>
          </a:solidFill>
          <a:ln w="12700">
            <a:solidFill>
              <a:srgbClr val="2563B0"/>
            </a:solidFill>
            <a:prstDash val="solid"/>
          </a:ln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3466" y="3213202"/>
            <a:ext cx="175565" cy="175565"/>
          </a:xfrm>
          <a:prstGeom prst="rect">
            <a:avLst/>
          </a:prstGeom>
        </p:spPr>
      </p:pic>
      <p:sp>
        <p:nvSpPr>
          <p:cNvPr id="21" name="Text 16"/>
          <p:cNvSpPr txBox="1"/>
          <p:nvPr/>
        </p:nvSpPr>
        <p:spPr>
          <a:xfrm>
            <a:off x="1143000" y="3054096"/>
            <a:ext cx="15544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A55"/>
                </a:solidFill>
              </a:rPr>
              <a:t>Agua</a:t>
            </a:r>
            <a:endParaRPr lang="en-US" sz="1400" dirty="0"/>
          </a:p>
        </p:txBody>
      </p:sp>
      <p:sp>
        <p:nvSpPr>
          <p:cNvPr id="22" name="Text 17"/>
          <p:cNvSpPr txBox="1"/>
          <p:nvPr/>
        </p:nvSpPr>
        <p:spPr>
          <a:xfrm>
            <a:off x="2743200" y="3054096"/>
            <a:ext cx="51206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213D"/>
                </a:solidFill>
              </a:rPr>
              <a:t>Sectores, caudal, fugas, rendimiento, telelectura</a:t>
            </a:r>
            <a:endParaRPr lang="en-US" sz="1200" dirty="0"/>
          </a:p>
        </p:txBody>
      </p:sp>
      <p:sp>
        <p:nvSpPr>
          <p:cNvPr id="23" name="Text 18"/>
          <p:cNvSpPr txBox="1"/>
          <p:nvPr/>
        </p:nvSpPr>
        <p:spPr>
          <a:xfrm>
            <a:off x="8001000" y="3054096"/>
            <a:ext cx="35204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213D"/>
                </a:solidFill>
              </a:rPr>
              <a:t>Telelectura y SCADA concesionaria</a:t>
            </a:r>
            <a:endParaRPr lang="en-US" sz="1200" dirty="0"/>
          </a:p>
        </p:txBody>
      </p:sp>
      <p:sp>
        <p:nvSpPr>
          <p:cNvPr id="24" name="Shape 19"/>
          <p:cNvSpPr/>
          <p:nvPr/>
        </p:nvSpPr>
        <p:spPr>
          <a:xfrm>
            <a:off x="548640" y="3621024"/>
            <a:ext cx="11064240" cy="493776"/>
          </a:xfrm>
          <a:prstGeom prst="roundRect">
            <a:avLst>
              <a:gd name="adj" fmla="val 18519"/>
            </a:avLst>
          </a:prstGeom>
          <a:solidFill>
            <a:srgbClr val="FFFFFF"/>
          </a:solidFill>
          <a:ln w="6350">
            <a:solidFill>
              <a:srgbClr val="D9E1EE"/>
            </a:solidFill>
            <a:prstDash val="solid"/>
          </a:ln>
        </p:spPr>
      </p:sp>
      <p:sp>
        <p:nvSpPr>
          <p:cNvPr id="25" name="Shape 20"/>
          <p:cNvSpPr/>
          <p:nvPr/>
        </p:nvSpPr>
        <p:spPr>
          <a:xfrm>
            <a:off x="658368" y="3685032"/>
            <a:ext cx="365760" cy="365760"/>
          </a:xfrm>
          <a:prstGeom prst="ellipse">
            <a:avLst/>
          </a:prstGeom>
          <a:solidFill>
            <a:srgbClr val="2F9E5F"/>
          </a:solidFill>
          <a:ln w="12700">
            <a:solidFill>
              <a:srgbClr val="2F9E5F"/>
            </a:solidFill>
            <a:prstDash val="solid"/>
          </a:ln>
        </p:spPr>
      </p:sp>
      <p:pic>
        <p:nvPicPr>
          <p:cNvPr id="2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3466" y="3780130"/>
            <a:ext cx="175565" cy="175565"/>
          </a:xfrm>
          <a:prstGeom prst="rect">
            <a:avLst/>
          </a:prstGeom>
        </p:spPr>
      </p:pic>
      <p:sp>
        <p:nvSpPr>
          <p:cNvPr id="27" name="Text 21"/>
          <p:cNvSpPr txBox="1"/>
          <p:nvPr/>
        </p:nvSpPr>
        <p:spPr>
          <a:xfrm>
            <a:off x="1143000" y="3621024"/>
            <a:ext cx="15544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A55"/>
                </a:solidFill>
              </a:rPr>
              <a:t>Residuos</a:t>
            </a:r>
            <a:endParaRPr lang="en-US" sz="1400" dirty="0"/>
          </a:p>
        </p:txBody>
      </p:sp>
      <p:sp>
        <p:nvSpPr>
          <p:cNvPr id="28" name="Text 22"/>
          <p:cNvSpPr txBox="1"/>
          <p:nvPr/>
        </p:nvSpPr>
        <p:spPr>
          <a:xfrm>
            <a:off x="2743200" y="3621024"/>
            <a:ext cx="51206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213D"/>
                </a:solidFill>
              </a:rPr>
              <a:t>Contenedores, sensores de llenado, rutas</a:t>
            </a:r>
            <a:endParaRPr lang="en-US" sz="1200" dirty="0"/>
          </a:p>
        </p:txBody>
      </p:sp>
      <p:sp>
        <p:nvSpPr>
          <p:cNvPr id="29" name="Text 23"/>
          <p:cNvSpPr txBox="1"/>
          <p:nvPr/>
        </p:nvSpPr>
        <p:spPr>
          <a:xfrm>
            <a:off x="8001000" y="3621024"/>
            <a:ext cx="35204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213D"/>
                </a:solidFill>
              </a:rPr>
              <a:t>siGEUS: toneladas, lavados, flota</a:t>
            </a:r>
            <a:endParaRPr lang="en-US" sz="1200" dirty="0"/>
          </a:p>
        </p:txBody>
      </p:sp>
      <p:sp>
        <p:nvSpPr>
          <p:cNvPr id="30" name="Shape 24"/>
          <p:cNvSpPr/>
          <p:nvPr/>
        </p:nvSpPr>
        <p:spPr>
          <a:xfrm>
            <a:off x="548640" y="4187952"/>
            <a:ext cx="11064240" cy="493776"/>
          </a:xfrm>
          <a:prstGeom prst="roundRect">
            <a:avLst>
              <a:gd name="adj" fmla="val 18519"/>
            </a:avLst>
          </a:prstGeom>
          <a:solidFill>
            <a:srgbClr val="F4F7FB"/>
          </a:solidFill>
          <a:ln w="6350">
            <a:solidFill>
              <a:srgbClr val="D9E1EE"/>
            </a:solidFill>
            <a:prstDash val="solid"/>
          </a:ln>
        </p:spPr>
      </p:sp>
      <p:sp>
        <p:nvSpPr>
          <p:cNvPr id="31" name="Shape 25"/>
          <p:cNvSpPr/>
          <p:nvPr/>
        </p:nvSpPr>
        <p:spPr>
          <a:xfrm>
            <a:off x="658368" y="4251960"/>
            <a:ext cx="365760" cy="365760"/>
          </a:xfrm>
          <a:prstGeom prst="ellipse">
            <a:avLst/>
          </a:prstGeom>
          <a:solidFill>
            <a:srgbClr val="6B4FBB"/>
          </a:solidFill>
          <a:ln w="12700">
            <a:solidFill>
              <a:srgbClr val="6B4FBB"/>
            </a:solidFill>
            <a:prstDash val="solid"/>
          </a:ln>
        </p:spPr>
      </p:sp>
      <p:pic>
        <p:nvPicPr>
          <p:cNvPr id="3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3466" y="4347058"/>
            <a:ext cx="175565" cy="175565"/>
          </a:xfrm>
          <a:prstGeom prst="rect">
            <a:avLst/>
          </a:prstGeom>
        </p:spPr>
      </p:pic>
      <p:sp>
        <p:nvSpPr>
          <p:cNvPr id="33" name="Text 26"/>
          <p:cNvSpPr txBox="1"/>
          <p:nvPr/>
        </p:nvSpPr>
        <p:spPr>
          <a:xfrm>
            <a:off x="1143000" y="4187952"/>
            <a:ext cx="15544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A55"/>
                </a:solidFill>
              </a:rPr>
              <a:t>Movilidad</a:t>
            </a:r>
            <a:endParaRPr lang="en-US" sz="1400" dirty="0"/>
          </a:p>
        </p:txBody>
      </p:sp>
      <p:sp>
        <p:nvSpPr>
          <p:cNvPr id="34" name="Text 27"/>
          <p:cNvSpPr txBox="1"/>
          <p:nvPr/>
        </p:nvSpPr>
        <p:spPr>
          <a:xfrm>
            <a:off x="2743200" y="4187952"/>
            <a:ext cx="51206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213D"/>
                </a:solidFill>
              </a:rPr>
              <a:t>Aforos, parkings, recarga EV, aforo del Parque</a:t>
            </a:r>
            <a:endParaRPr lang="en-US" sz="1200" dirty="0"/>
          </a:p>
        </p:txBody>
      </p:sp>
      <p:sp>
        <p:nvSpPr>
          <p:cNvPr id="35" name="Text 28"/>
          <p:cNvSpPr txBox="1"/>
          <p:nvPr/>
        </p:nvSpPr>
        <p:spPr>
          <a:xfrm>
            <a:off x="8001000" y="4187952"/>
            <a:ext cx="35204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213D"/>
                </a:solidFill>
              </a:rPr>
              <a:t>WiFi público y contadores (DPIA)</a:t>
            </a:r>
            <a:endParaRPr lang="en-US" sz="1200" dirty="0"/>
          </a:p>
        </p:txBody>
      </p:sp>
      <p:sp>
        <p:nvSpPr>
          <p:cNvPr id="36" name="Shape 29"/>
          <p:cNvSpPr/>
          <p:nvPr/>
        </p:nvSpPr>
        <p:spPr>
          <a:xfrm>
            <a:off x="548640" y="4754880"/>
            <a:ext cx="11064240" cy="493776"/>
          </a:xfrm>
          <a:prstGeom prst="roundRect">
            <a:avLst>
              <a:gd name="adj" fmla="val 18519"/>
            </a:avLst>
          </a:prstGeom>
          <a:solidFill>
            <a:srgbClr val="FFFFFF"/>
          </a:solidFill>
          <a:ln w="6350">
            <a:solidFill>
              <a:srgbClr val="D9E1EE"/>
            </a:solidFill>
            <a:prstDash val="solid"/>
          </a:ln>
        </p:spPr>
      </p:sp>
      <p:sp>
        <p:nvSpPr>
          <p:cNvPr id="37" name="Shape 30"/>
          <p:cNvSpPr/>
          <p:nvPr/>
        </p:nvSpPr>
        <p:spPr>
          <a:xfrm>
            <a:off x="658368" y="4818888"/>
            <a:ext cx="365760" cy="365760"/>
          </a:xfrm>
          <a:prstGeom prst="ellipse">
            <a:avLst/>
          </a:prstGeom>
          <a:solidFill>
            <a:srgbClr val="46587E"/>
          </a:solidFill>
          <a:ln w="12700">
            <a:solidFill>
              <a:srgbClr val="46587E"/>
            </a:solidFill>
            <a:prstDash val="solid"/>
          </a:ln>
        </p:spPr>
      </p:sp>
      <p:pic>
        <p:nvPicPr>
          <p:cNvPr id="38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3466" y="4913986"/>
            <a:ext cx="175565" cy="175565"/>
          </a:xfrm>
          <a:prstGeom prst="rect">
            <a:avLst/>
          </a:prstGeom>
        </p:spPr>
      </p:pic>
      <p:sp>
        <p:nvSpPr>
          <p:cNvPr id="39" name="Text 31"/>
          <p:cNvSpPr txBox="1"/>
          <p:nvPr/>
        </p:nvSpPr>
        <p:spPr>
          <a:xfrm>
            <a:off x="1143000" y="4754880"/>
            <a:ext cx="15544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A55"/>
                </a:solidFill>
              </a:rPr>
              <a:t>Seguridad</a:t>
            </a:r>
            <a:endParaRPr lang="en-US" sz="1400" dirty="0"/>
          </a:p>
        </p:txBody>
      </p:sp>
      <p:sp>
        <p:nvSpPr>
          <p:cNvPr id="40" name="Text 32"/>
          <p:cNvSpPr txBox="1"/>
          <p:nvPr/>
        </p:nvSpPr>
        <p:spPr>
          <a:xfrm>
            <a:off x="2743200" y="4754880"/>
            <a:ext cx="51206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213D"/>
                </a:solidFill>
              </a:rPr>
              <a:t>Cámaras, analítica, incidencias y ANS</a:t>
            </a:r>
            <a:endParaRPr lang="en-US" sz="1200" dirty="0"/>
          </a:p>
        </p:txBody>
      </p:sp>
      <p:sp>
        <p:nvSpPr>
          <p:cNvPr id="41" name="Text 33"/>
          <p:cNvSpPr txBox="1"/>
          <p:nvPr/>
        </p:nvSpPr>
        <p:spPr>
          <a:xfrm>
            <a:off x="8001000" y="4754880"/>
            <a:ext cx="35204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213D"/>
                </a:solidFill>
              </a:rPr>
              <a:t>Analítica de vídeo, avisos 112</a:t>
            </a:r>
            <a:endParaRPr lang="en-US" sz="1200" dirty="0"/>
          </a:p>
        </p:txBody>
      </p:sp>
      <p:sp>
        <p:nvSpPr>
          <p:cNvPr id="42" name="Shape 34"/>
          <p:cNvSpPr/>
          <p:nvPr/>
        </p:nvSpPr>
        <p:spPr>
          <a:xfrm>
            <a:off x="548640" y="5321808"/>
            <a:ext cx="11064240" cy="493776"/>
          </a:xfrm>
          <a:prstGeom prst="roundRect">
            <a:avLst>
              <a:gd name="adj" fmla="val 18519"/>
            </a:avLst>
          </a:prstGeom>
          <a:solidFill>
            <a:srgbClr val="F4F7FB"/>
          </a:solidFill>
          <a:ln w="6350">
            <a:solidFill>
              <a:srgbClr val="D9E1EE"/>
            </a:solidFill>
            <a:prstDash val="solid"/>
          </a:ln>
        </p:spPr>
      </p:sp>
      <p:sp>
        <p:nvSpPr>
          <p:cNvPr id="43" name="Shape 35"/>
          <p:cNvSpPr/>
          <p:nvPr/>
        </p:nvSpPr>
        <p:spPr>
          <a:xfrm>
            <a:off x="658368" y="5385816"/>
            <a:ext cx="365760" cy="365760"/>
          </a:xfrm>
          <a:prstGeom prst="ellipse">
            <a:avLst/>
          </a:prstGeom>
          <a:solidFill>
            <a:srgbClr val="E0912F"/>
          </a:solidFill>
          <a:ln w="12700">
            <a:solidFill>
              <a:srgbClr val="E0912F"/>
            </a:solidFill>
            <a:prstDash val="solid"/>
          </a:ln>
        </p:spPr>
      </p:sp>
      <p:pic>
        <p:nvPicPr>
          <p:cNvPr id="44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53466" y="5480914"/>
            <a:ext cx="175565" cy="175565"/>
          </a:xfrm>
          <a:prstGeom prst="rect">
            <a:avLst/>
          </a:prstGeom>
        </p:spPr>
      </p:pic>
      <p:sp>
        <p:nvSpPr>
          <p:cNvPr id="45" name="Text 36"/>
          <p:cNvSpPr txBox="1"/>
          <p:nvPr/>
        </p:nvSpPr>
        <p:spPr>
          <a:xfrm>
            <a:off x="1143000" y="5321808"/>
            <a:ext cx="15544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A55"/>
                </a:solidFill>
              </a:rPr>
              <a:t>Energía</a:t>
            </a:r>
            <a:endParaRPr lang="en-US" sz="1400" dirty="0"/>
          </a:p>
        </p:txBody>
      </p:sp>
      <p:sp>
        <p:nvSpPr>
          <p:cNvPr id="46" name="Text 37"/>
          <p:cNvSpPr txBox="1"/>
          <p:nvPr/>
        </p:nvSpPr>
        <p:spPr>
          <a:xfrm>
            <a:off x="2743200" y="5321808"/>
            <a:ext cx="51206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213D"/>
                </a:solidFill>
              </a:rPr>
              <a:t>Datadis público, CUPS, autoconsumo FV, coste</a:t>
            </a:r>
            <a:endParaRPr lang="en-US" sz="1200" dirty="0"/>
          </a:p>
        </p:txBody>
      </p:sp>
      <p:sp>
        <p:nvSpPr>
          <p:cNvPr id="47" name="Text 38"/>
          <p:cNvSpPr txBox="1"/>
          <p:nvPr/>
        </p:nvSpPr>
        <p:spPr>
          <a:xfrm>
            <a:off x="8001000" y="5321808"/>
            <a:ext cx="35204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213D"/>
                </a:solidFill>
              </a:rPr>
              <a:t>Datadis privado: curvas horarias</a:t>
            </a:r>
            <a:endParaRPr lang="en-US" sz="1200" dirty="0"/>
          </a:p>
        </p:txBody>
      </p:sp>
      <p:sp>
        <p:nvSpPr>
          <p:cNvPr id="48" name="Text 39"/>
          <p:cNvSpPr txBox="1"/>
          <p:nvPr/>
        </p:nvSpPr>
        <p:spPr>
          <a:xfrm>
            <a:off x="548640" y="5989320"/>
            <a:ext cx="11064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B6B88"/>
                </a:solidFill>
              </a:rPr>
              <a:t>Transversal: Open-Meteo, inventario de bienes y consumo de IA (real hoy) · Bettair, calidad del aire (al integrar). Sin credencial, el módulo muestra «fuente pendiente» y nunca inventa datos.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8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3200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RESUMEN MUNICIPAL</a:t>
            </a:r>
            <a:endParaRPr lang="en-US" sz="12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64008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La portada suma economía, tendencia y la semana que viene</a:t>
            </a:r>
            <a:endParaRPr lang="en-US" sz="3000" dirty="0"/>
          </a:p>
        </p:txBody>
      </p:sp>
      <p:pic>
        <p:nvPicPr>
          <p:cNvPr id="4" name="Image 0" descr="/home/user/NijarApps/frontend/shared/cabo-de-gata-hero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8640" y="1600200"/>
            <a:ext cx="11064240" cy="123444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48640" y="1600200"/>
            <a:ext cx="11064240" cy="1234440"/>
          </a:xfrm>
          <a:prstGeom prst="rect">
            <a:avLst/>
          </a:prstGeom>
          <a:solidFill>
            <a:srgbClr val="0B2A55">
              <a:alpha val="80000"/>
            </a:srgbClr>
          </a:solidFill>
          <a:ln w="12700">
            <a:solidFill>
              <a:srgbClr val="0B2A55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822960" y="169164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Níjar funciona bien, con 4 áreas en seguimiento</a:t>
            </a:r>
            <a:endParaRPr lang="en-US" sz="22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224028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5E0F0"/>
                </a:solidFill>
              </a:rPr>
              <a:t>3 de 7 servicios en verde · disponibilidad media 91,3 % · 1 incidencia crítica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10287000" y="1719072"/>
            <a:ext cx="1005840" cy="1005840"/>
          </a:xfrm>
          <a:prstGeom prst="ellipse">
            <a:avLst/>
          </a:prstGeom>
          <a:solidFill>
            <a:srgbClr val="0B2A55"/>
          </a:solidFill>
          <a:ln w="63500">
            <a:solidFill>
              <a:srgbClr val="F2A93B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10287000" y="1719072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84</a:t>
            </a:r>
            <a:endParaRPr lang="en-US" sz="26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de 100</a:t>
            </a:r>
            <a:endParaRPr lang="en-US" sz="2600" dirty="0"/>
          </a:p>
        </p:txBody>
      </p:sp>
      <p:sp>
        <p:nvSpPr>
          <p:cNvPr id="10" name="kpi Gasto energético mes"/>
          <p:cNvSpPr/>
          <p:nvPr/>
        </p:nvSpPr>
        <p:spPr>
          <a:xfrm>
            <a:off x="548640" y="3017520"/>
            <a:ext cx="1737360" cy="1600200"/>
          </a:xfrm>
          <a:prstGeom prst="roundRect">
            <a:avLst>
              <a:gd name="adj" fmla="val 6857"/>
            </a:avLst>
          </a:prstGeom>
          <a:solidFill>
            <a:srgbClr val="FFFFFF"/>
          </a:solidFill>
          <a:ln w="12700">
            <a:solidFill>
              <a:srgbClr val="D9E1EE"/>
            </a:solidFill>
            <a:prstDash val="solid"/>
          </a:ln>
          <a:effectLst>
            <a:outerShdw sx="100000" sy="100000" kx="0" ky="0" algn="bl" rotWithShape="0" blurRad="101600" dist="25400" dir="5400000">
              <a:srgbClr val="0B2A55">
                <a:alpha val="12000"/>
              </a:srgbClr>
            </a:outerShdw>
          </a:effectLst>
        </p:spPr>
      </p:sp>
      <p:sp>
        <p:nvSpPr>
          <p:cNvPr id="11" name="Text 8"/>
          <p:cNvSpPr txBox="1"/>
          <p:nvPr/>
        </p:nvSpPr>
        <p:spPr>
          <a:xfrm>
            <a:off x="731520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B6B88"/>
                </a:solidFill>
              </a:rPr>
              <a:t>Gasto energético mes</a:t>
            </a:r>
            <a:endParaRPr lang="en-US" sz="1100" dirty="0"/>
          </a:p>
        </p:txBody>
      </p:sp>
      <p:sp>
        <p:nvSpPr>
          <p:cNvPr id="12" name="Text 9"/>
          <p:cNvSpPr txBox="1"/>
          <p:nvPr/>
        </p:nvSpPr>
        <p:spPr>
          <a:xfrm>
            <a:off x="731520" y="3419856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2A55"/>
                </a:solidFill>
              </a:rPr>
              <a:t>98,4 k€</a:t>
            </a:r>
            <a:endParaRPr lang="en-US" sz="2800" dirty="0"/>
          </a:p>
        </p:txBody>
      </p:sp>
      <p:sp>
        <p:nvSpPr>
          <p:cNvPr id="13" name="Text 10"/>
          <p:cNvSpPr txBox="1"/>
          <p:nvPr/>
        </p:nvSpPr>
        <p:spPr>
          <a:xfrm>
            <a:off x="731520" y="396849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88"/>
                </a:solidFill>
              </a:rPr>
              <a:t>−6 % interanual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731520" y="4288536"/>
            <a:ext cx="658368" cy="219456"/>
          </a:xfrm>
          <a:prstGeom prst="roundRect">
            <a:avLst>
              <a:gd name="adj" fmla="val 50000"/>
            </a:avLst>
          </a:prstGeom>
          <a:solidFill>
            <a:srgbClr val="2F9E5F">
              <a:alpha val="15000"/>
            </a:srgbClr>
          </a:solidFill>
          <a:ln w="9525">
            <a:solidFill>
              <a:srgbClr val="2F9E5F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731520" y="4288536"/>
            <a:ext cx="6583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2F9E5F"/>
                </a:solidFill>
              </a:rPr>
              <a:t>REAL HOY</a:t>
            </a:r>
            <a:endParaRPr lang="en-US" sz="800" dirty="0"/>
          </a:p>
        </p:txBody>
      </p:sp>
      <p:sp>
        <p:nvSpPr>
          <p:cNvPr id="16" name="kpi Ahorro en el año"/>
          <p:cNvSpPr/>
          <p:nvPr/>
        </p:nvSpPr>
        <p:spPr>
          <a:xfrm>
            <a:off x="2414016" y="3017520"/>
            <a:ext cx="1737360" cy="1600200"/>
          </a:xfrm>
          <a:prstGeom prst="roundRect">
            <a:avLst>
              <a:gd name="adj" fmla="val 6857"/>
            </a:avLst>
          </a:prstGeom>
          <a:solidFill>
            <a:srgbClr val="FFFFFF"/>
          </a:solidFill>
          <a:ln w="12700">
            <a:solidFill>
              <a:srgbClr val="D9E1EE"/>
            </a:solidFill>
            <a:prstDash val="solid"/>
          </a:ln>
          <a:effectLst>
            <a:outerShdw sx="100000" sy="100000" kx="0" ky="0" algn="bl" rotWithShape="0" blurRad="101600" dist="25400" dir="5400000">
              <a:srgbClr val="0B2A55">
                <a:alpha val="12000"/>
              </a:srgbClr>
            </a:outerShdw>
          </a:effectLst>
        </p:spPr>
      </p:sp>
      <p:sp>
        <p:nvSpPr>
          <p:cNvPr id="17" name="Text 14"/>
          <p:cNvSpPr txBox="1"/>
          <p:nvPr/>
        </p:nvSpPr>
        <p:spPr>
          <a:xfrm>
            <a:off x="2596896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B6B88"/>
                </a:solidFill>
              </a:rPr>
              <a:t>Ahorro en el año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2596896" y="3419856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F9E5F"/>
                </a:solidFill>
              </a:rPr>
              <a:t>212 k€</a:t>
            </a:r>
            <a:endParaRPr lang="en-US" sz="2800" dirty="0"/>
          </a:p>
        </p:txBody>
      </p:sp>
      <p:sp>
        <p:nvSpPr>
          <p:cNvPr id="19" name="Text 16"/>
          <p:cNvSpPr txBox="1"/>
          <p:nvPr/>
        </p:nvSpPr>
        <p:spPr>
          <a:xfrm>
            <a:off x="2596896" y="396849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88"/>
                </a:solidFill>
              </a:rPr>
              <a:t>LED + autoconsumo</a:t>
            </a:r>
            <a:endParaRPr lang="en-US" sz="1050" dirty="0"/>
          </a:p>
        </p:txBody>
      </p:sp>
      <p:sp>
        <p:nvSpPr>
          <p:cNvPr id="20" name="Shape 17"/>
          <p:cNvSpPr/>
          <p:nvPr/>
        </p:nvSpPr>
        <p:spPr>
          <a:xfrm>
            <a:off x="2596896" y="4288536"/>
            <a:ext cx="658368" cy="219456"/>
          </a:xfrm>
          <a:prstGeom prst="roundRect">
            <a:avLst>
              <a:gd name="adj" fmla="val 50000"/>
            </a:avLst>
          </a:prstGeom>
          <a:solidFill>
            <a:srgbClr val="6B7A99">
              <a:alpha val="15000"/>
            </a:srgbClr>
          </a:solidFill>
          <a:ln w="9525">
            <a:solidFill>
              <a:srgbClr val="6B7A99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2596896" y="4288536"/>
            <a:ext cx="6583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6B7A99"/>
                </a:solidFill>
              </a:rPr>
              <a:t>ESTIMADO</a:t>
            </a:r>
            <a:endParaRPr lang="en-US" sz="800" dirty="0"/>
          </a:p>
        </p:txBody>
      </p:sp>
      <p:sp>
        <p:nvSpPr>
          <p:cNvPr id="22" name="kpi CO₂ evitado"/>
          <p:cNvSpPr/>
          <p:nvPr/>
        </p:nvSpPr>
        <p:spPr>
          <a:xfrm>
            <a:off x="4279392" y="3017520"/>
            <a:ext cx="1737360" cy="1600200"/>
          </a:xfrm>
          <a:prstGeom prst="roundRect">
            <a:avLst>
              <a:gd name="adj" fmla="val 6857"/>
            </a:avLst>
          </a:prstGeom>
          <a:solidFill>
            <a:srgbClr val="FFFFFF"/>
          </a:solidFill>
          <a:ln w="12700">
            <a:solidFill>
              <a:srgbClr val="D9E1EE"/>
            </a:solidFill>
            <a:prstDash val="solid"/>
          </a:ln>
          <a:effectLst>
            <a:outerShdw sx="100000" sy="100000" kx="0" ky="0" algn="bl" rotWithShape="0" blurRad="101600" dist="25400" dir="5400000">
              <a:srgbClr val="0B2A55">
                <a:alpha val="12000"/>
              </a:srgbClr>
            </a:outerShdw>
          </a:effectLst>
        </p:spPr>
      </p:sp>
      <p:sp>
        <p:nvSpPr>
          <p:cNvPr id="23" name="Text 20"/>
          <p:cNvSpPr txBox="1"/>
          <p:nvPr/>
        </p:nvSpPr>
        <p:spPr>
          <a:xfrm>
            <a:off x="44622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B6B88"/>
                </a:solidFill>
              </a:rPr>
              <a:t>CO₂ evitado</a:t>
            </a:r>
            <a:endParaRPr lang="en-US" sz="1100" dirty="0"/>
          </a:p>
        </p:txBody>
      </p:sp>
      <p:sp>
        <p:nvSpPr>
          <p:cNvPr id="24" name="Text 21"/>
          <p:cNvSpPr txBox="1"/>
          <p:nvPr/>
        </p:nvSpPr>
        <p:spPr>
          <a:xfrm>
            <a:off x="4462272" y="3419856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F9E5F"/>
                </a:solidFill>
              </a:rPr>
              <a:t>168 t</a:t>
            </a:r>
            <a:endParaRPr lang="en-US" sz="2800" dirty="0"/>
          </a:p>
        </p:txBody>
      </p:sp>
      <p:sp>
        <p:nvSpPr>
          <p:cNvPr id="25" name="Text 22"/>
          <p:cNvSpPr txBox="1"/>
          <p:nvPr/>
        </p:nvSpPr>
        <p:spPr>
          <a:xfrm>
            <a:off x="4462272" y="396849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88"/>
                </a:solidFill>
              </a:rPr>
              <a:t>al año</a:t>
            </a:r>
            <a:endParaRPr lang="en-US" sz="1050" dirty="0"/>
          </a:p>
        </p:txBody>
      </p:sp>
      <p:sp>
        <p:nvSpPr>
          <p:cNvPr id="26" name="Shape 23"/>
          <p:cNvSpPr/>
          <p:nvPr/>
        </p:nvSpPr>
        <p:spPr>
          <a:xfrm>
            <a:off x="4462272" y="4288536"/>
            <a:ext cx="658368" cy="219456"/>
          </a:xfrm>
          <a:prstGeom prst="roundRect">
            <a:avLst>
              <a:gd name="adj" fmla="val 50000"/>
            </a:avLst>
          </a:prstGeom>
          <a:solidFill>
            <a:srgbClr val="6B7A99">
              <a:alpha val="15000"/>
            </a:srgbClr>
          </a:solidFill>
          <a:ln w="9525">
            <a:solidFill>
              <a:srgbClr val="6B7A99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4462272" y="4288536"/>
            <a:ext cx="6583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6B7A99"/>
                </a:solidFill>
              </a:rPr>
              <a:t>ESTIMADO</a:t>
            </a:r>
            <a:endParaRPr lang="en-US" sz="800" dirty="0"/>
          </a:p>
        </p:txBody>
      </p:sp>
      <p:sp>
        <p:nvSpPr>
          <p:cNvPr id="28" name="kpi Incidencias críticas"/>
          <p:cNvSpPr/>
          <p:nvPr/>
        </p:nvSpPr>
        <p:spPr>
          <a:xfrm>
            <a:off x="6144768" y="3017520"/>
            <a:ext cx="1737360" cy="1600200"/>
          </a:xfrm>
          <a:prstGeom prst="roundRect">
            <a:avLst>
              <a:gd name="adj" fmla="val 6857"/>
            </a:avLst>
          </a:prstGeom>
          <a:solidFill>
            <a:srgbClr val="FFFFFF"/>
          </a:solidFill>
          <a:ln w="12700">
            <a:solidFill>
              <a:srgbClr val="D9E1EE"/>
            </a:solidFill>
            <a:prstDash val="solid"/>
          </a:ln>
          <a:effectLst>
            <a:outerShdw sx="100000" sy="100000" kx="0" ky="0" algn="bl" rotWithShape="0" blurRad="101600" dist="25400" dir="5400000">
              <a:srgbClr val="0B2A55">
                <a:alpha val="12000"/>
              </a:srgbClr>
            </a:outerShdw>
          </a:effectLst>
        </p:spPr>
      </p:sp>
      <p:sp>
        <p:nvSpPr>
          <p:cNvPr id="29" name="Text 26"/>
          <p:cNvSpPr txBox="1"/>
          <p:nvPr/>
        </p:nvSpPr>
        <p:spPr>
          <a:xfrm>
            <a:off x="6327648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B6B88"/>
                </a:solidFill>
              </a:rPr>
              <a:t>Incidencias críticas</a:t>
            </a:r>
            <a:endParaRPr lang="en-US" sz="1100" dirty="0"/>
          </a:p>
        </p:txBody>
      </p:sp>
      <p:sp>
        <p:nvSpPr>
          <p:cNvPr id="30" name="Text 27"/>
          <p:cNvSpPr txBox="1"/>
          <p:nvPr/>
        </p:nvSpPr>
        <p:spPr>
          <a:xfrm>
            <a:off x="6327648" y="3419856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05A4D"/>
                </a:solidFill>
              </a:rPr>
              <a:t>1</a:t>
            </a:r>
            <a:endParaRPr lang="en-US" sz="2800" dirty="0"/>
          </a:p>
        </p:txBody>
      </p:sp>
      <p:sp>
        <p:nvSpPr>
          <p:cNvPr id="31" name="Text 28"/>
          <p:cNvSpPr txBox="1"/>
          <p:nvPr/>
        </p:nvSpPr>
        <p:spPr>
          <a:xfrm>
            <a:off x="6327648" y="396849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88"/>
                </a:solidFill>
              </a:rPr>
              <a:t>ANS cumplido 94 %</a:t>
            </a:r>
            <a:endParaRPr lang="en-US" sz="1050" dirty="0"/>
          </a:p>
        </p:txBody>
      </p:sp>
      <p:sp>
        <p:nvSpPr>
          <p:cNvPr id="32" name="Shape 29"/>
          <p:cNvSpPr/>
          <p:nvPr/>
        </p:nvSpPr>
        <p:spPr>
          <a:xfrm>
            <a:off x="6327648" y="4288536"/>
            <a:ext cx="658368" cy="219456"/>
          </a:xfrm>
          <a:prstGeom prst="roundRect">
            <a:avLst>
              <a:gd name="adj" fmla="val 50000"/>
            </a:avLst>
          </a:prstGeom>
          <a:solidFill>
            <a:srgbClr val="2F9E5F">
              <a:alpha val="15000"/>
            </a:srgbClr>
          </a:solidFill>
          <a:ln w="9525">
            <a:solidFill>
              <a:srgbClr val="2F9E5F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6327648" y="4288536"/>
            <a:ext cx="6583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2F9E5F"/>
                </a:solidFill>
              </a:rPr>
              <a:t>REAL HOY</a:t>
            </a:r>
            <a:endParaRPr lang="en-US" sz="800" dirty="0"/>
          </a:p>
        </p:txBody>
      </p:sp>
      <p:sp>
        <p:nvSpPr>
          <p:cNvPr id="34" name="kpi Satisfacción"/>
          <p:cNvSpPr/>
          <p:nvPr/>
        </p:nvSpPr>
        <p:spPr>
          <a:xfrm>
            <a:off x="8010144" y="3017520"/>
            <a:ext cx="1737360" cy="1600200"/>
          </a:xfrm>
          <a:prstGeom prst="roundRect">
            <a:avLst>
              <a:gd name="adj" fmla="val 6857"/>
            </a:avLst>
          </a:prstGeom>
          <a:solidFill>
            <a:srgbClr val="FFFFFF"/>
          </a:solidFill>
          <a:ln w="12700">
            <a:solidFill>
              <a:srgbClr val="D9E1EE"/>
            </a:solidFill>
            <a:prstDash val="solid"/>
          </a:ln>
          <a:effectLst>
            <a:outerShdw sx="100000" sy="100000" kx="0" ky="0" algn="bl" rotWithShape="0" blurRad="101600" dist="25400" dir="5400000">
              <a:srgbClr val="0B2A55">
                <a:alpha val="12000"/>
              </a:srgbClr>
            </a:outerShdw>
          </a:effectLst>
        </p:spPr>
      </p:sp>
      <p:sp>
        <p:nvSpPr>
          <p:cNvPr id="35" name="Text 32"/>
          <p:cNvSpPr txBox="1"/>
          <p:nvPr/>
        </p:nvSpPr>
        <p:spPr>
          <a:xfrm>
            <a:off x="8193024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B6B88"/>
                </a:solidFill>
              </a:rPr>
              <a:t>Satisfacción</a:t>
            </a:r>
            <a:endParaRPr lang="en-US" sz="1100" dirty="0"/>
          </a:p>
        </p:txBody>
      </p:sp>
      <p:sp>
        <p:nvSpPr>
          <p:cNvPr id="36" name="Text 33"/>
          <p:cNvSpPr txBox="1"/>
          <p:nvPr/>
        </p:nvSpPr>
        <p:spPr>
          <a:xfrm>
            <a:off x="8193024" y="3419856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2A55"/>
                </a:solidFill>
              </a:rPr>
              <a:t>77,2 %</a:t>
            </a:r>
            <a:endParaRPr lang="en-US" sz="2800" dirty="0"/>
          </a:p>
        </p:txBody>
      </p:sp>
      <p:sp>
        <p:nvSpPr>
          <p:cNvPr id="37" name="Text 34"/>
          <p:cNvSpPr txBox="1"/>
          <p:nvPr/>
        </p:nvSpPr>
        <p:spPr>
          <a:xfrm>
            <a:off x="8193024" y="396849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88"/>
                </a:solidFill>
              </a:rPr>
              <a:t>NPS chatbot y tótems</a:t>
            </a:r>
            <a:endParaRPr lang="en-US" sz="1050" dirty="0"/>
          </a:p>
        </p:txBody>
      </p:sp>
      <p:sp>
        <p:nvSpPr>
          <p:cNvPr id="38" name="Shape 35"/>
          <p:cNvSpPr/>
          <p:nvPr/>
        </p:nvSpPr>
        <p:spPr>
          <a:xfrm>
            <a:off x="8193024" y="4288536"/>
            <a:ext cx="658368" cy="219456"/>
          </a:xfrm>
          <a:prstGeom prst="roundRect">
            <a:avLst>
              <a:gd name="adj" fmla="val 50000"/>
            </a:avLst>
          </a:prstGeom>
          <a:solidFill>
            <a:srgbClr val="2F9E5F">
              <a:alpha val="15000"/>
            </a:srgbClr>
          </a:solidFill>
          <a:ln w="9525">
            <a:solidFill>
              <a:srgbClr val="2F9E5F"/>
            </a:solidFill>
            <a:prstDash val="solid"/>
          </a:ln>
        </p:spPr>
      </p:sp>
      <p:sp>
        <p:nvSpPr>
          <p:cNvPr id="39" name="Text 36"/>
          <p:cNvSpPr txBox="1"/>
          <p:nvPr/>
        </p:nvSpPr>
        <p:spPr>
          <a:xfrm>
            <a:off x="8193024" y="4288536"/>
            <a:ext cx="6583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2F9E5F"/>
                </a:solidFill>
              </a:rPr>
              <a:t>REAL HOY</a:t>
            </a:r>
            <a:endParaRPr lang="en-US" sz="800" dirty="0"/>
          </a:p>
        </p:txBody>
      </p:sp>
      <p:sp>
        <p:nvSpPr>
          <p:cNvPr id="40" name="kpi Visitantes semana"/>
          <p:cNvSpPr/>
          <p:nvPr/>
        </p:nvSpPr>
        <p:spPr>
          <a:xfrm>
            <a:off x="9875520" y="3017520"/>
            <a:ext cx="1737360" cy="1600200"/>
          </a:xfrm>
          <a:prstGeom prst="roundRect">
            <a:avLst>
              <a:gd name="adj" fmla="val 6857"/>
            </a:avLst>
          </a:prstGeom>
          <a:solidFill>
            <a:srgbClr val="FFFFFF"/>
          </a:solidFill>
          <a:ln w="12700">
            <a:solidFill>
              <a:srgbClr val="D9E1EE"/>
            </a:solidFill>
            <a:prstDash val="solid"/>
          </a:ln>
          <a:effectLst>
            <a:outerShdw sx="100000" sy="100000" kx="0" ky="0" algn="bl" rotWithShape="0" blurRad="101600" dist="25400" dir="5400000">
              <a:srgbClr val="0B2A55">
                <a:alpha val="12000"/>
              </a:srgbClr>
            </a:outerShdw>
          </a:effectLst>
        </p:spPr>
      </p:sp>
      <p:sp>
        <p:nvSpPr>
          <p:cNvPr id="41" name="Text 38"/>
          <p:cNvSpPr txBox="1"/>
          <p:nvPr/>
        </p:nvSpPr>
        <p:spPr>
          <a:xfrm>
            <a:off x="10058400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B6B88"/>
                </a:solidFill>
              </a:rPr>
              <a:t>Visitantes semana</a:t>
            </a:r>
            <a:endParaRPr lang="en-US" sz="1100" dirty="0"/>
          </a:p>
        </p:txBody>
      </p:sp>
      <p:sp>
        <p:nvSpPr>
          <p:cNvPr id="42" name="Text 39"/>
          <p:cNvSpPr txBox="1"/>
          <p:nvPr/>
        </p:nvSpPr>
        <p:spPr>
          <a:xfrm>
            <a:off x="10058400" y="3419856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563B0"/>
                </a:solidFill>
              </a:rPr>
              <a:t>18.600</a:t>
            </a:r>
            <a:endParaRPr lang="en-US" sz="2800" dirty="0"/>
          </a:p>
        </p:txBody>
      </p:sp>
      <p:sp>
        <p:nvSpPr>
          <p:cNvPr id="43" name="Text 40"/>
          <p:cNvSpPr txBox="1"/>
          <p:nvPr/>
        </p:nvSpPr>
        <p:spPr>
          <a:xfrm>
            <a:off x="10058400" y="396849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88"/>
                </a:solidFill>
              </a:rPr>
              <a:t>+12 % previsto</a:t>
            </a:r>
            <a:endParaRPr lang="en-US" sz="1050" dirty="0"/>
          </a:p>
        </p:txBody>
      </p:sp>
      <p:sp>
        <p:nvSpPr>
          <p:cNvPr id="44" name="Shape 41"/>
          <p:cNvSpPr/>
          <p:nvPr/>
        </p:nvSpPr>
        <p:spPr>
          <a:xfrm>
            <a:off x="10058400" y="4288536"/>
            <a:ext cx="1275588" cy="219456"/>
          </a:xfrm>
          <a:prstGeom prst="roundRect">
            <a:avLst>
              <a:gd name="adj" fmla="val 50000"/>
            </a:avLst>
          </a:prstGeom>
          <a:solidFill>
            <a:srgbClr val="2563B0">
              <a:alpha val="15000"/>
            </a:srgbClr>
          </a:solidFill>
          <a:ln w="9525">
            <a:solidFill>
              <a:srgbClr val="2563B0"/>
            </a:solidFill>
            <a:prstDash val="solid"/>
          </a:ln>
        </p:spPr>
      </p:sp>
      <p:sp>
        <p:nvSpPr>
          <p:cNvPr id="45" name="Text 42"/>
          <p:cNvSpPr txBox="1"/>
          <p:nvPr/>
        </p:nvSpPr>
        <p:spPr>
          <a:xfrm>
            <a:off x="10058400" y="4288536"/>
            <a:ext cx="12755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2563B0"/>
                </a:solidFill>
              </a:rPr>
              <a:t>MODELO PREDICTIVO</a:t>
            </a:r>
            <a:endParaRPr lang="en-US" sz="800" dirty="0"/>
          </a:p>
        </p:txBody>
      </p:sp>
      <p:sp>
        <p:nvSpPr>
          <p:cNvPr id="46" name="grafico"/>
          <p:cNvSpPr/>
          <p:nvPr/>
        </p:nvSpPr>
        <p:spPr>
          <a:xfrm>
            <a:off x="548640" y="4800600"/>
            <a:ext cx="6675120" cy="150876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D9E1EE"/>
            </a:solidFill>
            <a:prstDash val="solid"/>
          </a:ln>
          <a:effectLst>
            <a:outerShdw sx="100000" sy="100000" kx="0" ky="0" algn="bl" rotWithShape="0" blurRad="101600" dist="25400" dir="5400000">
              <a:srgbClr val="0B2A55">
                <a:alpha val="12000"/>
              </a:srgbClr>
            </a:outerShdw>
          </a:effectLst>
        </p:spPr>
      </p:sp>
      <p:graphicFrame>
        <p:nvGraphicFramePr>
          <p:cNvPr id="47" name="Chart 0" descr=""/>
          <p:cNvGraphicFramePr/>
          <p:nvPr/>
        </p:nvGraphicFramePr>
        <p:xfrm>
          <a:off x="640080" y="4846320"/>
          <a:ext cx="6492240" cy="14173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48" name="decisiones"/>
          <p:cNvSpPr/>
          <p:nvPr/>
        </p:nvSpPr>
        <p:spPr>
          <a:xfrm>
            <a:off x="7406640" y="4800600"/>
            <a:ext cx="4206240" cy="1508760"/>
          </a:xfrm>
          <a:prstGeom prst="roundRect">
            <a:avLst>
              <a:gd name="adj" fmla="val 7273"/>
            </a:avLst>
          </a:prstGeom>
          <a:solidFill>
            <a:srgbClr val="FFF6E8"/>
          </a:solidFill>
          <a:ln w="12700">
            <a:solidFill>
              <a:srgbClr val="F6D9A8"/>
            </a:solidFill>
            <a:prstDash val="solid"/>
          </a:ln>
          <a:effectLst>
            <a:outerShdw sx="100000" sy="100000" kx="0" ky="0" algn="bl" rotWithShape="0" blurRad="101600" dist="25400" dir="5400000">
              <a:srgbClr val="0B2A55">
                <a:alpha val="12000"/>
              </a:srgbClr>
            </a:outerShdw>
          </a:effectLst>
        </p:spPr>
      </p:sp>
      <p:sp>
        <p:nvSpPr>
          <p:cNvPr id="49" name="Shape 45"/>
          <p:cNvSpPr/>
          <p:nvPr/>
        </p:nvSpPr>
        <p:spPr>
          <a:xfrm>
            <a:off x="7589520" y="4983480"/>
            <a:ext cx="457200" cy="457200"/>
          </a:xfrm>
          <a:prstGeom prst="ellipse">
            <a:avLst/>
          </a:prstGeom>
          <a:solidFill>
            <a:srgbClr val="F2A93B"/>
          </a:solidFill>
          <a:ln w="12700">
            <a:solidFill>
              <a:srgbClr val="F2A93B"/>
            </a:solidFill>
            <a:prstDash val="solid"/>
          </a:ln>
        </p:spPr>
      </p:sp>
      <p:pic>
        <p:nvPicPr>
          <p:cNvPr id="50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08392" y="5102352"/>
            <a:ext cx="219456" cy="219456"/>
          </a:xfrm>
          <a:prstGeom prst="rect">
            <a:avLst/>
          </a:prstGeom>
        </p:spPr>
      </p:pic>
      <p:sp>
        <p:nvSpPr>
          <p:cNvPr id="51" name="Text 46"/>
          <p:cNvSpPr txBox="1"/>
          <p:nvPr/>
        </p:nvSpPr>
        <p:spPr>
          <a:xfrm>
            <a:off x="8183880" y="4892040"/>
            <a:ext cx="32918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A55"/>
                </a:solidFill>
              </a:rPr>
              <a:t>3 decisiones pendientes</a:t>
            </a:r>
            <a:endParaRPr lang="en-US" sz="1500" dirty="0"/>
          </a:p>
          <a:p>
            <a:pPr indent="0" marL="0">
              <a:buNone/>
            </a:pPr>
            <a:r>
              <a:rPr lang="en-US" sz="1200" dirty="0">
                <a:solidFill>
                  <a:srgbClr val="14213D"/>
                </a:solidFill>
              </a:rPr>
              <a:t>Con 74.000 €/año en juego. Aceptar o descartar desde la portada.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8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3200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TURISMO INTELIGENTE</a:t>
            </a:r>
            <a:endParaRPr lang="en-US" sz="12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64008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Pico de visitantes en Todos los Santos; después, un 31 % menos</a:t>
            </a:r>
            <a:endParaRPr lang="en-US" sz="3000" dirty="0"/>
          </a:p>
        </p:txBody>
      </p:sp>
      <p:sp>
        <p:nvSpPr>
          <p:cNvPr id="4" name="kpi Visitantes previstos"/>
          <p:cNvSpPr/>
          <p:nvPr/>
        </p:nvSpPr>
        <p:spPr>
          <a:xfrm>
            <a:off x="548640" y="1645920"/>
            <a:ext cx="2194560" cy="1755648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D9E1EE"/>
            </a:solidFill>
            <a:prstDash val="solid"/>
          </a:ln>
          <a:effectLst>
            <a:outerShdw sx="100000" sy="100000" kx="0" ky="0" algn="bl" rotWithShape="0" blurRad="101600" dist="25400" dir="5400000">
              <a:srgbClr val="0B2A55">
                <a:alpha val="12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731520" y="177393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B6B88"/>
                </a:solidFill>
              </a:rPr>
              <a:t>Visitantes previstos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2048256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563B0"/>
                </a:solidFill>
              </a:rPr>
              <a:t>18.600</a:t>
            </a:r>
            <a:endParaRPr lang="en-US" sz="28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259689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88"/>
                </a:solidFill>
              </a:rPr>
              <a:t>semana del 26 oct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731520" y="3072384"/>
            <a:ext cx="1275588" cy="219456"/>
          </a:xfrm>
          <a:prstGeom prst="roundRect">
            <a:avLst>
              <a:gd name="adj" fmla="val 50000"/>
            </a:avLst>
          </a:prstGeom>
          <a:solidFill>
            <a:srgbClr val="2563B0">
              <a:alpha val="15000"/>
            </a:srgbClr>
          </a:solidFill>
          <a:ln w="9525">
            <a:solidFill>
              <a:srgbClr val="2563B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31520" y="3072384"/>
            <a:ext cx="12755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2563B0"/>
                </a:solidFill>
              </a:rPr>
              <a:t>MODELO PREDICTIVO</a:t>
            </a:r>
            <a:endParaRPr lang="en-US" sz="800" dirty="0"/>
          </a:p>
        </p:txBody>
      </p:sp>
      <p:sp>
        <p:nvSpPr>
          <p:cNvPr id="10" name="kpi Pernoctaciones"/>
          <p:cNvSpPr/>
          <p:nvPr/>
        </p:nvSpPr>
        <p:spPr>
          <a:xfrm>
            <a:off x="2880360" y="1645920"/>
            <a:ext cx="2194560" cy="1755648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D9E1EE"/>
            </a:solidFill>
            <a:prstDash val="solid"/>
          </a:ln>
          <a:effectLst>
            <a:outerShdw sx="100000" sy="100000" kx="0" ky="0" algn="bl" rotWithShape="0" blurRad="101600" dist="25400" dir="5400000">
              <a:srgbClr val="0B2A55">
                <a:alpha val="12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3063240" y="177393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B6B88"/>
                </a:solidFill>
              </a:rPr>
              <a:t>Pernoctaciones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3063240" y="2048256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F9E5F"/>
                </a:solidFill>
              </a:rPr>
              <a:t>+4,2 %</a:t>
            </a:r>
            <a:endParaRPr lang="en-US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3063240" y="259689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88"/>
                </a:solidFill>
              </a:rPr>
              <a:t>interanual · INE EOH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063240" y="3072384"/>
            <a:ext cx="658368" cy="219456"/>
          </a:xfrm>
          <a:prstGeom prst="roundRect">
            <a:avLst>
              <a:gd name="adj" fmla="val 50000"/>
            </a:avLst>
          </a:prstGeom>
          <a:solidFill>
            <a:srgbClr val="2F9E5F">
              <a:alpha val="15000"/>
            </a:srgbClr>
          </a:solidFill>
          <a:ln w="9525">
            <a:solidFill>
              <a:srgbClr val="2F9E5F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3063240" y="3072384"/>
            <a:ext cx="6583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2F9E5F"/>
                </a:solidFill>
              </a:rPr>
              <a:t>REAL HOY</a:t>
            </a:r>
            <a:endParaRPr lang="en-US" sz="800" dirty="0"/>
          </a:p>
        </p:txBody>
      </p:sp>
      <p:sp>
        <p:nvSpPr>
          <p:cNvPr id="16" name="kpi Aforo del Parque"/>
          <p:cNvSpPr/>
          <p:nvPr/>
        </p:nvSpPr>
        <p:spPr>
          <a:xfrm>
            <a:off x="548640" y="3547872"/>
            <a:ext cx="2194560" cy="1755648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D9E1EE"/>
            </a:solidFill>
            <a:prstDash val="solid"/>
          </a:ln>
          <a:effectLst>
            <a:outerShdw sx="100000" sy="100000" kx="0" ky="0" algn="bl" rotWithShape="0" blurRad="101600" dist="25400" dir="5400000">
              <a:srgbClr val="0B2A55">
                <a:alpha val="12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731520" y="367588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B6B88"/>
                </a:solidFill>
              </a:rPr>
              <a:t>Aforo del Parque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731520" y="3950208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2A55"/>
                </a:solidFill>
              </a:rPr>
              <a:t>72 %</a:t>
            </a:r>
            <a:endParaRPr lang="en-US" sz="2800" dirty="0"/>
          </a:p>
        </p:txBody>
      </p:sp>
      <p:sp>
        <p:nvSpPr>
          <p:cNvPr id="19" name="Text 17"/>
          <p:cNvSpPr txBox="1"/>
          <p:nvPr/>
        </p:nvSpPr>
        <p:spPr>
          <a:xfrm>
            <a:off x="731520" y="449884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88"/>
                </a:solidFill>
              </a:rPr>
              <a:t>34 banderas en verde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731520" y="4974336"/>
            <a:ext cx="658368" cy="219456"/>
          </a:xfrm>
          <a:prstGeom prst="roundRect">
            <a:avLst>
              <a:gd name="adj" fmla="val 50000"/>
            </a:avLst>
          </a:prstGeom>
          <a:solidFill>
            <a:srgbClr val="2F9E5F">
              <a:alpha val="15000"/>
            </a:srgbClr>
          </a:solidFill>
          <a:ln w="9525">
            <a:solidFill>
              <a:srgbClr val="2F9E5F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31520" y="4974336"/>
            <a:ext cx="6583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2F9E5F"/>
                </a:solidFill>
              </a:rPr>
              <a:t>REAL HOY</a:t>
            </a:r>
            <a:endParaRPr lang="en-US" sz="800" dirty="0"/>
          </a:p>
        </p:txBody>
      </p:sp>
      <p:sp>
        <p:nvSpPr>
          <p:cNvPr id="22" name="kpi Sentimiento en redes"/>
          <p:cNvSpPr/>
          <p:nvPr/>
        </p:nvSpPr>
        <p:spPr>
          <a:xfrm>
            <a:off x="2880360" y="3547872"/>
            <a:ext cx="2194560" cy="1755648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D9E1EE"/>
            </a:solidFill>
            <a:prstDash val="solid"/>
          </a:ln>
          <a:effectLst>
            <a:outerShdw sx="100000" sy="100000" kx="0" ky="0" algn="bl" rotWithShape="0" blurRad="101600" dist="25400" dir="5400000">
              <a:srgbClr val="0B2A55">
                <a:alpha val="12000"/>
              </a:srgbClr>
            </a:outerShdw>
          </a:effectLst>
        </p:spPr>
      </p:sp>
      <p:sp>
        <p:nvSpPr>
          <p:cNvPr id="23" name="Text 21"/>
          <p:cNvSpPr txBox="1"/>
          <p:nvPr/>
        </p:nvSpPr>
        <p:spPr>
          <a:xfrm>
            <a:off x="3063240" y="367588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B6B88"/>
                </a:solidFill>
              </a:rPr>
              <a:t>Sentimiento en redes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3063240" y="3950208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2A55"/>
                </a:solidFill>
              </a:rPr>
              <a:t>+0,55</a:t>
            </a:r>
            <a:endParaRPr lang="en-US" sz="2800" dirty="0"/>
          </a:p>
        </p:txBody>
      </p:sp>
      <p:sp>
        <p:nvSpPr>
          <p:cNvPr id="25" name="Text 23"/>
          <p:cNvSpPr txBox="1"/>
          <p:nvPr/>
        </p:nvSpPr>
        <p:spPr>
          <a:xfrm>
            <a:off x="3063240" y="449884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88"/>
                </a:solidFill>
              </a:rPr>
              <a:t>31.764 menciones/mes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3063240" y="4974336"/>
            <a:ext cx="864108" cy="219456"/>
          </a:xfrm>
          <a:prstGeom prst="roundRect">
            <a:avLst>
              <a:gd name="adj" fmla="val 50000"/>
            </a:avLst>
          </a:prstGeom>
          <a:solidFill>
            <a:srgbClr val="C77A12">
              <a:alpha val="15000"/>
            </a:srgbClr>
          </a:solidFill>
          <a:ln w="9525">
            <a:solidFill>
              <a:srgbClr val="C77A12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3063240" y="4974336"/>
            <a:ext cx="8641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C77A12"/>
                </a:solidFill>
              </a:rPr>
              <a:t>AL INTEGRAR</a:t>
            </a:r>
            <a:endParaRPr lang="en-US" sz="800" dirty="0"/>
          </a:p>
        </p:txBody>
      </p:sp>
      <p:sp>
        <p:nvSpPr>
          <p:cNvPr id="28" name="grafico"/>
          <p:cNvSpPr/>
          <p:nvPr/>
        </p:nvSpPr>
        <p:spPr>
          <a:xfrm>
            <a:off x="5349240" y="1645920"/>
            <a:ext cx="6263640" cy="36576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D9E1EE"/>
            </a:solidFill>
            <a:prstDash val="solid"/>
          </a:ln>
          <a:effectLst>
            <a:outerShdw sx="100000" sy="100000" kx="0" ky="0" algn="bl" rotWithShape="0" blurRad="101600" dist="25400" dir="5400000">
              <a:srgbClr val="0B2A55">
                <a:alpha val="12000"/>
              </a:srgbClr>
            </a:outerShdw>
          </a:effectLst>
        </p:spPr>
      </p:sp>
      <p:graphicFrame>
        <p:nvGraphicFramePr>
          <p:cNvPr id="29" name="Chart 0" descr=""/>
          <p:cNvGraphicFramePr/>
          <p:nvPr/>
        </p:nvGraphicFramePr>
        <p:xfrm>
          <a:off x="5486400" y="1737360"/>
          <a:ext cx="5989320" cy="32918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30" name="Text 27"/>
          <p:cNvSpPr txBox="1"/>
          <p:nvPr/>
        </p:nvSpPr>
        <p:spPr>
          <a:xfrm>
            <a:off x="5532120" y="5029200"/>
            <a:ext cx="5943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B6B88"/>
                </a:solidFill>
              </a:rPr>
              <a:t>Ilustrativo · prediccion_afluencia + aforo ThingsBoard</a:t>
            </a:r>
            <a:endParaRPr lang="en-US" sz="900" dirty="0"/>
          </a:p>
        </p:txBody>
      </p:sp>
      <p:sp>
        <p:nvSpPr>
          <p:cNvPr id="31" name="accion"/>
          <p:cNvSpPr/>
          <p:nvPr/>
        </p:nvSpPr>
        <p:spPr>
          <a:xfrm>
            <a:off x="548640" y="5532120"/>
            <a:ext cx="11064240" cy="731520"/>
          </a:xfrm>
          <a:prstGeom prst="roundRect">
            <a:avLst>
              <a:gd name="adj" fmla="val 15000"/>
            </a:avLst>
          </a:prstGeom>
          <a:solidFill>
            <a:srgbClr val="E8F6F4"/>
          </a:solidFill>
          <a:ln w="12700">
            <a:solidFill>
              <a:srgbClr val="BFE6E0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713232" y="5660136"/>
            <a:ext cx="475488" cy="475488"/>
          </a:xfrm>
          <a:prstGeom prst="ellipse">
            <a:avLst/>
          </a:prstGeom>
          <a:solidFill>
            <a:srgbClr val="17A394"/>
          </a:solidFill>
          <a:ln w="12700">
            <a:solidFill>
              <a:srgbClr val="17A394"/>
            </a:solidFill>
            <a:prstDash val="solid"/>
          </a:ln>
        </p:spPr>
      </p:sp>
      <p:pic>
        <p:nvPicPr>
          <p:cNvPr id="33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6859" y="5783763"/>
            <a:ext cx="228234" cy="228234"/>
          </a:xfrm>
          <a:prstGeom prst="rect">
            <a:avLst/>
          </a:prstGeom>
        </p:spPr>
      </p:pic>
      <p:sp>
        <p:nvSpPr>
          <p:cNvPr id="34" name="Text 30"/>
          <p:cNvSpPr txBox="1"/>
          <p:nvPr/>
        </p:nvSpPr>
        <p:spPr>
          <a:xfrm>
            <a:off x="1325880" y="5532120"/>
            <a:ext cx="10149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6F66"/>
                </a:solidFill>
              </a:rPr>
              <a:t>Acción recomendada  </a:t>
            </a:r>
            <a:pPr indent="0" marL="0">
              <a:buNone/>
            </a:pPr>
            <a:r>
              <a:rPr lang="en-US" sz="1400" dirty="0">
                <a:solidFill>
                  <a:srgbClr val="14213D"/>
                </a:solidFill>
              </a:rPr>
              <a:t>Semana de baja afluencia (−31 %): campaña de temporada baja en mercados alemán y francés, el 38 % de las consultas en idiomas.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8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3200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ALUMBRADO PÚBLICO</a:t>
            </a:r>
            <a:endParaRPr lang="en-US" sz="12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64008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El LED ya ahorra 6.800 € al mes; quedan 1.140 VSAP por renovar</a:t>
            </a:r>
            <a:endParaRPr lang="en-US" sz="3000" dirty="0"/>
          </a:p>
        </p:txBody>
      </p:sp>
      <p:sp>
        <p:nvSpPr>
          <p:cNvPr id="4" name="kpi Coste mensual"/>
          <p:cNvSpPr/>
          <p:nvPr/>
        </p:nvSpPr>
        <p:spPr>
          <a:xfrm>
            <a:off x="548640" y="1645920"/>
            <a:ext cx="2194560" cy="1755648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D9E1EE"/>
            </a:solidFill>
            <a:prstDash val="solid"/>
          </a:ln>
          <a:effectLst>
            <a:outerShdw sx="100000" sy="100000" kx="0" ky="0" algn="bl" rotWithShape="0" blurRad="101600" dist="25400" dir="5400000">
              <a:srgbClr val="0B2A55">
                <a:alpha val="12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731520" y="177393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B6B88"/>
                </a:solidFill>
              </a:rPr>
              <a:t>Coste mensual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2048256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2A55"/>
                </a:solidFill>
              </a:rPr>
              <a:t>9.800 €</a:t>
            </a:r>
            <a:endParaRPr lang="en-US" sz="28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259689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88"/>
                </a:solidFill>
              </a:rPr>
              <a:t>61.300 kWh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731520" y="3072384"/>
            <a:ext cx="658368" cy="219456"/>
          </a:xfrm>
          <a:prstGeom prst="roundRect">
            <a:avLst>
              <a:gd name="adj" fmla="val 50000"/>
            </a:avLst>
          </a:prstGeom>
          <a:solidFill>
            <a:srgbClr val="2F9E5F">
              <a:alpha val="15000"/>
            </a:srgbClr>
          </a:solidFill>
          <a:ln w="9525">
            <a:solidFill>
              <a:srgbClr val="2F9E5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31520" y="3072384"/>
            <a:ext cx="6583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2F9E5F"/>
                </a:solidFill>
              </a:rPr>
              <a:t>REAL HOY</a:t>
            </a:r>
            <a:endParaRPr lang="en-US" sz="800" dirty="0"/>
          </a:p>
        </p:txBody>
      </p:sp>
      <p:sp>
        <p:nvSpPr>
          <p:cNvPr id="10" name="kpi Ahorro LED vs VSAP"/>
          <p:cNvSpPr/>
          <p:nvPr/>
        </p:nvSpPr>
        <p:spPr>
          <a:xfrm>
            <a:off x="2880360" y="1645920"/>
            <a:ext cx="2194560" cy="1755648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D9E1EE"/>
            </a:solidFill>
            <a:prstDash val="solid"/>
          </a:ln>
          <a:effectLst>
            <a:outerShdw sx="100000" sy="100000" kx="0" ky="0" algn="bl" rotWithShape="0" blurRad="101600" dist="25400" dir="5400000">
              <a:srgbClr val="0B2A55">
                <a:alpha val="12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3063240" y="177393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B6B88"/>
                </a:solidFill>
              </a:rPr>
              <a:t>Ahorro LED vs VSAP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3063240" y="2048256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F9E5F"/>
                </a:solidFill>
              </a:rPr>
              <a:t>41 %</a:t>
            </a:r>
            <a:endParaRPr lang="en-US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3063240" y="259689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88"/>
                </a:solidFill>
              </a:rPr>
              <a:t>6.800 €/mes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063240" y="3072384"/>
            <a:ext cx="658368" cy="219456"/>
          </a:xfrm>
          <a:prstGeom prst="roundRect">
            <a:avLst>
              <a:gd name="adj" fmla="val 50000"/>
            </a:avLst>
          </a:prstGeom>
          <a:solidFill>
            <a:srgbClr val="6B7A99">
              <a:alpha val="15000"/>
            </a:srgbClr>
          </a:solidFill>
          <a:ln w="9525">
            <a:solidFill>
              <a:srgbClr val="6B7A99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3063240" y="3072384"/>
            <a:ext cx="6583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6B7A99"/>
                </a:solidFill>
              </a:rPr>
              <a:t>ESTIMADO</a:t>
            </a:r>
            <a:endParaRPr lang="en-US" sz="800" dirty="0"/>
          </a:p>
        </p:txBody>
      </p:sp>
      <p:sp>
        <p:nvSpPr>
          <p:cNvPr id="16" name="kpi Luminarias LED"/>
          <p:cNvSpPr/>
          <p:nvPr/>
        </p:nvSpPr>
        <p:spPr>
          <a:xfrm>
            <a:off x="548640" y="3547872"/>
            <a:ext cx="2194560" cy="1755648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D9E1EE"/>
            </a:solidFill>
            <a:prstDash val="solid"/>
          </a:ln>
          <a:effectLst>
            <a:outerShdw sx="100000" sy="100000" kx="0" ky="0" algn="bl" rotWithShape="0" blurRad="101600" dist="25400" dir="5400000">
              <a:srgbClr val="0B2A55">
                <a:alpha val="12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731520" y="367588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B6B88"/>
                </a:solidFill>
              </a:rPr>
              <a:t>Luminarias LED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731520" y="3950208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2A55"/>
                </a:solidFill>
              </a:rPr>
              <a:t>72 %</a:t>
            </a:r>
            <a:endParaRPr lang="en-US" sz="2800" dirty="0"/>
          </a:p>
        </p:txBody>
      </p:sp>
      <p:sp>
        <p:nvSpPr>
          <p:cNvPr id="19" name="Text 17"/>
          <p:cNvSpPr txBox="1"/>
          <p:nvPr/>
        </p:nvSpPr>
        <p:spPr>
          <a:xfrm>
            <a:off x="731520" y="449884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88"/>
                </a:solidFill>
              </a:rPr>
              <a:t>1.140 VSAP pendientes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731520" y="4974336"/>
            <a:ext cx="658368" cy="219456"/>
          </a:xfrm>
          <a:prstGeom prst="roundRect">
            <a:avLst>
              <a:gd name="adj" fmla="val 50000"/>
            </a:avLst>
          </a:prstGeom>
          <a:solidFill>
            <a:srgbClr val="2F9E5F">
              <a:alpha val="15000"/>
            </a:srgbClr>
          </a:solidFill>
          <a:ln w="9525">
            <a:solidFill>
              <a:srgbClr val="2F9E5F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31520" y="4974336"/>
            <a:ext cx="6583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2F9E5F"/>
                </a:solidFill>
              </a:rPr>
              <a:t>REAL HOY</a:t>
            </a:r>
            <a:endParaRPr lang="en-US" sz="800" dirty="0"/>
          </a:p>
        </p:txBody>
      </p:sp>
      <p:sp>
        <p:nvSpPr>
          <p:cNvPr id="22" name="kpi Incidencias abiertas"/>
          <p:cNvSpPr/>
          <p:nvPr/>
        </p:nvSpPr>
        <p:spPr>
          <a:xfrm>
            <a:off x="2880360" y="3547872"/>
            <a:ext cx="2194560" cy="1755648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D9E1EE"/>
            </a:solidFill>
            <a:prstDash val="solid"/>
          </a:ln>
          <a:effectLst>
            <a:outerShdw sx="100000" sy="100000" kx="0" ky="0" algn="bl" rotWithShape="0" blurRad="101600" dist="25400" dir="5400000">
              <a:srgbClr val="0B2A55">
                <a:alpha val="12000"/>
              </a:srgbClr>
            </a:outerShdw>
          </a:effectLst>
        </p:spPr>
      </p:sp>
      <p:sp>
        <p:nvSpPr>
          <p:cNvPr id="23" name="Text 21"/>
          <p:cNvSpPr txBox="1"/>
          <p:nvPr/>
        </p:nvSpPr>
        <p:spPr>
          <a:xfrm>
            <a:off x="3063240" y="367588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B6B88"/>
                </a:solidFill>
              </a:rPr>
              <a:t>Incidencias abiertas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3063240" y="3950208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05A4D"/>
                </a:solidFill>
              </a:rPr>
              <a:t>31</a:t>
            </a:r>
            <a:endParaRPr lang="en-US" sz="2800" dirty="0"/>
          </a:p>
        </p:txBody>
      </p:sp>
      <p:sp>
        <p:nvSpPr>
          <p:cNvPr id="25" name="Text 23"/>
          <p:cNvSpPr txBox="1"/>
          <p:nvPr/>
        </p:nvSpPr>
        <p:spPr>
          <a:xfrm>
            <a:off x="3063240" y="449884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88"/>
                </a:solidFill>
              </a:rPr>
              <a:t>reparación media 2,6 días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3063240" y="4974336"/>
            <a:ext cx="658368" cy="219456"/>
          </a:xfrm>
          <a:prstGeom prst="roundRect">
            <a:avLst>
              <a:gd name="adj" fmla="val 50000"/>
            </a:avLst>
          </a:prstGeom>
          <a:solidFill>
            <a:srgbClr val="2F9E5F">
              <a:alpha val="15000"/>
            </a:srgbClr>
          </a:solidFill>
          <a:ln w="9525">
            <a:solidFill>
              <a:srgbClr val="2F9E5F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3063240" y="4974336"/>
            <a:ext cx="6583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2F9E5F"/>
                </a:solidFill>
              </a:rPr>
              <a:t>REAL HOY</a:t>
            </a:r>
            <a:endParaRPr lang="en-US" sz="800" dirty="0"/>
          </a:p>
        </p:txBody>
      </p:sp>
      <p:sp>
        <p:nvSpPr>
          <p:cNvPr id="28" name="grafico"/>
          <p:cNvSpPr/>
          <p:nvPr/>
        </p:nvSpPr>
        <p:spPr>
          <a:xfrm>
            <a:off x="5349240" y="1645920"/>
            <a:ext cx="6263640" cy="36576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D9E1EE"/>
            </a:solidFill>
            <a:prstDash val="solid"/>
          </a:ln>
          <a:effectLst>
            <a:outerShdw sx="100000" sy="100000" kx="0" ky="0" algn="bl" rotWithShape="0" blurRad="101600" dist="25400" dir="5400000">
              <a:srgbClr val="0B2A55">
                <a:alpha val="12000"/>
              </a:srgbClr>
            </a:outerShdw>
          </a:effectLst>
        </p:spPr>
      </p:sp>
      <p:graphicFrame>
        <p:nvGraphicFramePr>
          <p:cNvPr id="29" name="Chart 0" descr=""/>
          <p:cNvGraphicFramePr/>
          <p:nvPr/>
        </p:nvGraphicFramePr>
        <p:xfrm>
          <a:off x="5486400" y="1737360"/>
          <a:ext cx="5989320" cy="32918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30" name="Text 27"/>
          <p:cNvSpPr txBox="1"/>
          <p:nvPr/>
        </p:nvSpPr>
        <p:spPr>
          <a:xfrm>
            <a:off x="5532120" y="5029200"/>
            <a:ext cx="5943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B6B88"/>
                </a:solidFill>
              </a:rPr>
              <a:t>Ilustrativo · /verticales/alumbrado/overview + histórico 24 meses · *previsión</a:t>
            </a:r>
            <a:endParaRPr lang="en-US" sz="900" dirty="0"/>
          </a:p>
        </p:txBody>
      </p:sp>
      <p:sp>
        <p:nvSpPr>
          <p:cNvPr id="31" name="accion"/>
          <p:cNvSpPr/>
          <p:nvPr/>
        </p:nvSpPr>
        <p:spPr>
          <a:xfrm>
            <a:off x="548640" y="5532120"/>
            <a:ext cx="11064240" cy="731520"/>
          </a:xfrm>
          <a:prstGeom prst="roundRect">
            <a:avLst>
              <a:gd name="adj" fmla="val 15000"/>
            </a:avLst>
          </a:prstGeom>
          <a:solidFill>
            <a:srgbClr val="E8F6F4"/>
          </a:solidFill>
          <a:ln w="12700">
            <a:solidFill>
              <a:srgbClr val="BFE6E0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713232" y="5660136"/>
            <a:ext cx="475488" cy="475488"/>
          </a:xfrm>
          <a:prstGeom prst="ellipse">
            <a:avLst/>
          </a:prstGeom>
          <a:solidFill>
            <a:srgbClr val="17A394"/>
          </a:solidFill>
          <a:ln w="12700">
            <a:solidFill>
              <a:srgbClr val="17A394"/>
            </a:solidFill>
            <a:prstDash val="solid"/>
          </a:ln>
        </p:spPr>
      </p:sp>
      <p:pic>
        <p:nvPicPr>
          <p:cNvPr id="33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6859" y="5783763"/>
            <a:ext cx="228234" cy="228234"/>
          </a:xfrm>
          <a:prstGeom prst="rect">
            <a:avLst/>
          </a:prstGeom>
        </p:spPr>
      </p:pic>
      <p:sp>
        <p:nvSpPr>
          <p:cNvPr id="34" name="Text 30"/>
          <p:cNvSpPr txBox="1"/>
          <p:nvPr/>
        </p:nvSpPr>
        <p:spPr>
          <a:xfrm>
            <a:off x="1325880" y="5532120"/>
            <a:ext cx="10149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6F66"/>
                </a:solidFill>
              </a:rPr>
              <a:t>Acción recomendada  </a:t>
            </a:r>
            <a:pPr indent="0" marL="0">
              <a:buNone/>
            </a:pPr>
            <a:r>
              <a:rPr lang="en-US" sz="1400" dirty="0">
                <a:solidFill>
                  <a:srgbClr val="14213D"/>
                </a:solidFill>
              </a:rPr>
              <a:t>Renovar las 310 VSAP de Campohermoso: ahorro estimado de 18.000 €/año, retorno en 3 años.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8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3200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CICLO DEL AGUA</a:t>
            </a:r>
            <a:endParaRPr lang="en-US" sz="12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64008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Cinco de siete sectores no llegan al 85 % de rendimiento</a:t>
            </a:r>
            <a:endParaRPr lang="en-US" sz="3000" dirty="0"/>
          </a:p>
        </p:txBody>
      </p:sp>
      <p:sp>
        <p:nvSpPr>
          <p:cNvPr id="4" name="kpi Agua no registrada"/>
          <p:cNvSpPr/>
          <p:nvPr/>
        </p:nvSpPr>
        <p:spPr>
          <a:xfrm>
            <a:off x="548640" y="1645920"/>
            <a:ext cx="2194560" cy="1755648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D9E1EE"/>
            </a:solidFill>
            <a:prstDash val="solid"/>
          </a:ln>
          <a:effectLst>
            <a:outerShdw sx="100000" sy="100000" kx="0" ky="0" algn="bl" rotWithShape="0" blurRad="101600" dist="25400" dir="5400000">
              <a:srgbClr val="0B2A55">
                <a:alpha val="12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731520" y="177393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B6B88"/>
                </a:solidFill>
              </a:rPr>
              <a:t>Agua no registrada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2048256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05A4D"/>
                </a:solidFill>
              </a:rPr>
              <a:t>82.400 m³</a:t>
            </a:r>
            <a:endParaRPr lang="en-US" sz="28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259689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88"/>
                </a:solidFill>
              </a:rPr>
              <a:t>≈ 49.000 € al mes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731520" y="3072384"/>
            <a:ext cx="658368" cy="219456"/>
          </a:xfrm>
          <a:prstGeom prst="roundRect">
            <a:avLst>
              <a:gd name="adj" fmla="val 50000"/>
            </a:avLst>
          </a:prstGeom>
          <a:solidFill>
            <a:srgbClr val="6B7A99">
              <a:alpha val="15000"/>
            </a:srgbClr>
          </a:solidFill>
          <a:ln w="9525">
            <a:solidFill>
              <a:srgbClr val="6B7A99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31520" y="3072384"/>
            <a:ext cx="6583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6B7A99"/>
                </a:solidFill>
              </a:rPr>
              <a:t>ESTIMADO</a:t>
            </a:r>
            <a:endParaRPr lang="en-US" sz="800" dirty="0"/>
          </a:p>
        </p:txBody>
      </p:sp>
      <p:sp>
        <p:nvSpPr>
          <p:cNvPr id="10" name="kpi Rendimiento medio"/>
          <p:cNvSpPr/>
          <p:nvPr/>
        </p:nvSpPr>
        <p:spPr>
          <a:xfrm>
            <a:off x="2880360" y="1645920"/>
            <a:ext cx="2194560" cy="1755648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D9E1EE"/>
            </a:solidFill>
            <a:prstDash val="solid"/>
          </a:ln>
          <a:effectLst>
            <a:outerShdw sx="100000" sy="100000" kx="0" ky="0" algn="bl" rotWithShape="0" blurRad="101600" dist="25400" dir="5400000">
              <a:srgbClr val="0B2A55">
                <a:alpha val="12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3063240" y="177393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B6B88"/>
                </a:solidFill>
              </a:rPr>
              <a:t>Rendimiento medio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3063240" y="2048256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2A55"/>
                </a:solidFill>
              </a:rPr>
              <a:t>80 %</a:t>
            </a:r>
            <a:endParaRPr lang="en-US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3063240" y="259689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88"/>
                </a:solidFill>
              </a:rPr>
              <a:t>objetivo 85 %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063240" y="3072384"/>
            <a:ext cx="658368" cy="219456"/>
          </a:xfrm>
          <a:prstGeom prst="roundRect">
            <a:avLst>
              <a:gd name="adj" fmla="val 50000"/>
            </a:avLst>
          </a:prstGeom>
          <a:solidFill>
            <a:srgbClr val="2F9E5F">
              <a:alpha val="15000"/>
            </a:srgbClr>
          </a:solidFill>
          <a:ln w="9525">
            <a:solidFill>
              <a:srgbClr val="2F9E5F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3063240" y="3072384"/>
            <a:ext cx="6583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2F9E5F"/>
                </a:solidFill>
              </a:rPr>
              <a:t>REAL HOY</a:t>
            </a:r>
            <a:endParaRPr lang="en-US" sz="800" dirty="0"/>
          </a:p>
        </p:txBody>
      </p:sp>
      <p:sp>
        <p:nvSpPr>
          <p:cNvPr id="16" name="kpi Fugas activas"/>
          <p:cNvSpPr/>
          <p:nvPr/>
        </p:nvSpPr>
        <p:spPr>
          <a:xfrm>
            <a:off x="548640" y="3547872"/>
            <a:ext cx="2194560" cy="1755648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D9E1EE"/>
            </a:solidFill>
            <a:prstDash val="solid"/>
          </a:ln>
          <a:effectLst>
            <a:outerShdw sx="100000" sy="100000" kx="0" ky="0" algn="bl" rotWithShape="0" blurRad="101600" dist="25400" dir="5400000">
              <a:srgbClr val="0B2A55">
                <a:alpha val="12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731520" y="367588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B6B88"/>
                </a:solidFill>
              </a:rPr>
              <a:t>Fugas activas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731520" y="3950208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2A93B"/>
                </a:solidFill>
              </a:rPr>
              <a:t>3</a:t>
            </a:r>
            <a:endParaRPr lang="en-US" sz="2800" dirty="0"/>
          </a:p>
        </p:txBody>
      </p:sp>
      <p:sp>
        <p:nvSpPr>
          <p:cNvPr id="19" name="Text 17"/>
          <p:cNvSpPr txBox="1"/>
          <p:nvPr/>
        </p:nvSpPr>
        <p:spPr>
          <a:xfrm>
            <a:off x="731520" y="449884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88"/>
                </a:solidFill>
              </a:rPr>
              <a:t>reparación media 36 h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731520" y="4974336"/>
            <a:ext cx="658368" cy="219456"/>
          </a:xfrm>
          <a:prstGeom prst="roundRect">
            <a:avLst>
              <a:gd name="adj" fmla="val 50000"/>
            </a:avLst>
          </a:prstGeom>
          <a:solidFill>
            <a:srgbClr val="2F9E5F">
              <a:alpha val="15000"/>
            </a:srgbClr>
          </a:solidFill>
          <a:ln w="9525">
            <a:solidFill>
              <a:srgbClr val="2F9E5F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31520" y="4974336"/>
            <a:ext cx="6583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2F9E5F"/>
                </a:solidFill>
              </a:rPr>
              <a:t>REAL HOY</a:t>
            </a:r>
            <a:endParaRPr lang="en-US" sz="800" dirty="0"/>
          </a:p>
        </p:txBody>
      </p:sp>
      <p:sp>
        <p:nvSpPr>
          <p:cNvPr id="22" name="kpi Demanda en agosto"/>
          <p:cNvSpPr/>
          <p:nvPr/>
        </p:nvSpPr>
        <p:spPr>
          <a:xfrm>
            <a:off x="2880360" y="3547872"/>
            <a:ext cx="2194560" cy="1755648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D9E1EE"/>
            </a:solidFill>
            <a:prstDash val="solid"/>
          </a:ln>
          <a:effectLst>
            <a:outerShdw sx="100000" sy="100000" kx="0" ky="0" algn="bl" rotWithShape="0" blurRad="101600" dist="25400" dir="5400000">
              <a:srgbClr val="0B2A55">
                <a:alpha val="12000"/>
              </a:srgbClr>
            </a:outerShdw>
          </a:effectLst>
        </p:spPr>
      </p:sp>
      <p:sp>
        <p:nvSpPr>
          <p:cNvPr id="23" name="Text 21"/>
          <p:cNvSpPr txBox="1"/>
          <p:nvPr/>
        </p:nvSpPr>
        <p:spPr>
          <a:xfrm>
            <a:off x="3063240" y="367588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B6B88"/>
                </a:solidFill>
              </a:rPr>
              <a:t>Demanda en agosto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3063240" y="3950208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563B0"/>
                </a:solidFill>
              </a:rPr>
              <a:t>+38 %</a:t>
            </a:r>
            <a:endParaRPr lang="en-US" sz="2800" dirty="0"/>
          </a:p>
        </p:txBody>
      </p:sp>
      <p:sp>
        <p:nvSpPr>
          <p:cNvPr id="25" name="Text 23"/>
          <p:cNvSpPr txBox="1"/>
          <p:nvPr/>
        </p:nvSpPr>
        <p:spPr>
          <a:xfrm>
            <a:off x="3063240" y="449884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88"/>
                </a:solidFill>
              </a:rPr>
              <a:t>frente a octubre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3063240" y="4974336"/>
            <a:ext cx="1275588" cy="219456"/>
          </a:xfrm>
          <a:prstGeom prst="roundRect">
            <a:avLst>
              <a:gd name="adj" fmla="val 50000"/>
            </a:avLst>
          </a:prstGeom>
          <a:solidFill>
            <a:srgbClr val="2563B0">
              <a:alpha val="15000"/>
            </a:srgbClr>
          </a:solidFill>
          <a:ln w="9525">
            <a:solidFill>
              <a:srgbClr val="2563B0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3063240" y="4974336"/>
            <a:ext cx="12755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2563B0"/>
                </a:solidFill>
              </a:rPr>
              <a:t>MODELO PREDICTIVO</a:t>
            </a:r>
            <a:endParaRPr lang="en-US" sz="800" dirty="0"/>
          </a:p>
        </p:txBody>
      </p:sp>
      <p:sp>
        <p:nvSpPr>
          <p:cNvPr id="28" name="grafico"/>
          <p:cNvSpPr/>
          <p:nvPr/>
        </p:nvSpPr>
        <p:spPr>
          <a:xfrm>
            <a:off x="5349240" y="1645920"/>
            <a:ext cx="6263640" cy="36576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D9E1EE"/>
            </a:solidFill>
            <a:prstDash val="solid"/>
          </a:ln>
          <a:effectLst>
            <a:outerShdw sx="100000" sy="100000" kx="0" ky="0" algn="bl" rotWithShape="0" blurRad="101600" dist="25400" dir="5400000">
              <a:srgbClr val="0B2A55">
                <a:alpha val="12000"/>
              </a:srgbClr>
            </a:outerShdw>
          </a:effectLst>
        </p:spPr>
      </p:sp>
      <p:graphicFrame>
        <p:nvGraphicFramePr>
          <p:cNvPr id="29" name="Chart 0" descr=""/>
          <p:cNvGraphicFramePr/>
          <p:nvPr/>
        </p:nvGraphicFramePr>
        <p:xfrm>
          <a:off x="5486400" y="1737360"/>
          <a:ext cx="5989320" cy="32918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30" name="Text 27"/>
          <p:cNvSpPr txBox="1"/>
          <p:nvPr/>
        </p:nvSpPr>
        <p:spPr>
          <a:xfrm>
            <a:off x="5532120" y="5029200"/>
            <a:ext cx="5943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B6B88"/>
                </a:solidFill>
              </a:rPr>
              <a:t>Ilustrativo · /verticales/agua/overview · facturado al integrar la concesionaria</a:t>
            </a:r>
            <a:endParaRPr lang="en-US" sz="900" dirty="0"/>
          </a:p>
        </p:txBody>
      </p:sp>
      <p:sp>
        <p:nvSpPr>
          <p:cNvPr id="31" name="accion"/>
          <p:cNvSpPr/>
          <p:nvPr/>
        </p:nvSpPr>
        <p:spPr>
          <a:xfrm>
            <a:off x="548640" y="5532120"/>
            <a:ext cx="11064240" cy="731520"/>
          </a:xfrm>
          <a:prstGeom prst="roundRect">
            <a:avLst>
              <a:gd name="adj" fmla="val 15000"/>
            </a:avLst>
          </a:prstGeom>
          <a:solidFill>
            <a:srgbClr val="E8F6F4"/>
          </a:solidFill>
          <a:ln w="12700">
            <a:solidFill>
              <a:srgbClr val="BFE6E0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713232" y="5660136"/>
            <a:ext cx="475488" cy="475488"/>
          </a:xfrm>
          <a:prstGeom prst="ellipse">
            <a:avLst/>
          </a:prstGeom>
          <a:solidFill>
            <a:srgbClr val="17A394"/>
          </a:solidFill>
          <a:ln w="12700">
            <a:solidFill>
              <a:srgbClr val="17A394"/>
            </a:solidFill>
            <a:prstDash val="solid"/>
          </a:ln>
        </p:spPr>
      </p:sp>
      <p:pic>
        <p:nvPicPr>
          <p:cNvPr id="33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6859" y="5783763"/>
            <a:ext cx="228234" cy="228234"/>
          </a:xfrm>
          <a:prstGeom prst="rect">
            <a:avLst/>
          </a:prstGeom>
        </p:spPr>
      </p:pic>
      <p:sp>
        <p:nvSpPr>
          <p:cNvPr id="34" name="Text 30"/>
          <p:cNvSpPr txBox="1"/>
          <p:nvPr/>
        </p:nvSpPr>
        <p:spPr>
          <a:xfrm>
            <a:off x="1325880" y="5532120"/>
            <a:ext cx="10149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6F66"/>
                </a:solidFill>
              </a:rPr>
              <a:t>Acción recomendada  </a:t>
            </a:r>
            <a:pPr indent="0" marL="0">
              <a:buNone/>
            </a:pPr>
            <a:r>
              <a:rPr lang="en-US" sz="1400" dirty="0">
                <a:solidFill>
                  <a:srgbClr val="14213D"/>
                </a:solidFill>
              </a:rPr>
              <a:t>San José Norte pierde el 27 %: campaña de búsqueda activa de fugas; recuperar 5 puntos ahorra unos 14.000 €/año.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8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3200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RESIDUOS · siGEUS</a:t>
            </a:r>
            <a:endParaRPr lang="en-US" sz="12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64008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Agosto dispara la recogida; la selectiva se queda en el 21 %</a:t>
            </a:r>
            <a:endParaRPr lang="en-US" sz="3000" dirty="0"/>
          </a:p>
        </p:txBody>
      </p:sp>
      <p:sp>
        <p:nvSpPr>
          <p:cNvPr id="4" name="kpi Toneladas del mes"/>
          <p:cNvSpPr/>
          <p:nvPr/>
        </p:nvSpPr>
        <p:spPr>
          <a:xfrm>
            <a:off x="548640" y="1645920"/>
            <a:ext cx="2194560" cy="1755648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D9E1EE"/>
            </a:solidFill>
            <a:prstDash val="solid"/>
          </a:ln>
          <a:effectLst>
            <a:outerShdw sx="100000" sy="100000" kx="0" ky="0" algn="bl" rotWithShape="0" blurRad="101600" dist="25400" dir="5400000">
              <a:srgbClr val="0B2A55">
                <a:alpha val="12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731520" y="177393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B6B88"/>
                </a:solidFill>
              </a:rPr>
              <a:t>Toneladas del mes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2048256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2A55"/>
                </a:solidFill>
              </a:rPr>
              <a:t>1.480 t</a:t>
            </a:r>
            <a:endParaRPr lang="en-US" sz="28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259689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88"/>
                </a:solidFill>
              </a:rPr>
              <a:t>por fracción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731520" y="3072384"/>
            <a:ext cx="864108" cy="219456"/>
          </a:xfrm>
          <a:prstGeom prst="roundRect">
            <a:avLst>
              <a:gd name="adj" fmla="val 50000"/>
            </a:avLst>
          </a:prstGeom>
          <a:solidFill>
            <a:srgbClr val="C77A12">
              <a:alpha val="15000"/>
            </a:srgbClr>
          </a:solidFill>
          <a:ln w="9525">
            <a:solidFill>
              <a:srgbClr val="C77A1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31520" y="3072384"/>
            <a:ext cx="8641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C77A12"/>
                </a:solidFill>
              </a:rPr>
              <a:t>AL INTEGRAR</a:t>
            </a:r>
            <a:endParaRPr lang="en-US" sz="800" dirty="0"/>
          </a:p>
        </p:txBody>
      </p:sp>
      <p:sp>
        <p:nvSpPr>
          <p:cNvPr id="10" name="kpi Recogida selectiva"/>
          <p:cNvSpPr/>
          <p:nvPr/>
        </p:nvSpPr>
        <p:spPr>
          <a:xfrm>
            <a:off x="2880360" y="1645920"/>
            <a:ext cx="2194560" cy="1755648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D9E1EE"/>
            </a:solidFill>
            <a:prstDash val="solid"/>
          </a:ln>
          <a:effectLst>
            <a:outerShdw sx="100000" sy="100000" kx="0" ky="0" algn="bl" rotWithShape="0" blurRad="101600" dist="25400" dir="5400000">
              <a:srgbClr val="0B2A55">
                <a:alpha val="12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3063240" y="177393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B6B88"/>
                </a:solidFill>
              </a:rPr>
              <a:t>Recogida selectiva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3063240" y="2048256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05A4D"/>
                </a:solidFill>
              </a:rPr>
              <a:t>21 %</a:t>
            </a:r>
            <a:endParaRPr lang="en-US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3063240" y="259689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88"/>
                </a:solidFill>
              </a:rPr>
              <a:t>objetivo UE 2035: 65 %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063240" y="3072384"/>
            <a:ext cx="864108" cy="219456"/>
          </a:xfrm>
          <a:prstGeom prst="roundRect">
            <a:avLst>
              <a:gd name="adj" fmla="val 50000"/>
            </a:avLst>
          </a:prstGeom>
          <a:solidFill>
            <a:srgbClr val="C77A12">
              <a:alpha val="15000"/>
            </a:srgbClr>
          </a:solidFill>
          <a:ln w="9525">
            <a:solidFill>
              <a:srgbClr val="C77A12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3063240" y="3072384"/>
            <a:ext cx="8641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C77A12"/>
                </a:solidFill>
              </a:rPr>
              <a:t>AL INTEGRAR</a:t>
            </a:r>
            <a:endParaRPr lang="en-US" sz="800" dirty="0"/>
          </a:p>
        </p:txBody>
      </p:sp>
      <p:sp>
        <p:nvSpPr>
          <p:cNvPr id="16" name="kpi Contenedores ≥ 80 %"/>
          <p:cNvSpPr/>
          <p:nvPr/>
        </p:nvSpPr>
        <p:spPr>
          <a:xfrm>
            <a:off x="548640" y="3547872"/>
            <a:ext cx="2194560" cy="1755648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D9E1EE"/>
            </a:solidFill>
            <a:prstDash val="solid"/>
          </a:ln>
          <a:effectLst>
            <a:outerShdw sx="100000" sy="100000" kx="0" ky="0" algn="bl" rotWithShape="0" blurRad="101600" dist="25400" dir="5400000">
              <a:srgbClr val="0B2A55">
                <a:alpha val="12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731520" y="367588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B6B88"/>
                </a:solidFill>
              </a:rPr>
              <a:t>Contenedores ≥ 80 %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731520" y="3950208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2A93B"/>
                </a:solidFill>
              </a:rPr>
              <a:t>94</a:t>
            </a:r>
            <a:endParaRPr lang="en-US" sz="2800" dirty="0"/>
          </a:p>
        </p:txBody>
      </p:sp>
      <p:sp>
        <p:nvSpPr>
          <p:cNvPr id="19" name="Text 17"/>
          <p:cNvSpPr txBox="1"/>
          <p:nvPr/>
        </p:nvSpPr>
        <p:spPr>
          <a:xfrm>
            <a:off x="731520" y="449884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88"/>
                </a:solidFill>
              </a:rPr>
              <a:t>27 en riesgo en 48 h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731520" y="4974336"/>
            <a:ext cx="658368" cy="219456"/>
          </a:xfrm>
          <a:prstGeom prst="roundRect">
            <a:avLst>
              <a:gd name="adj" fmla="val 50000"/>
            </a:avLst>
          </a:prstGeom>
          <a:solidFill>
            <a:srgbClr val="2F9E5F">
              <a:alpha val="15000"/>
            </a:srgbClr>
          </a:solidFill>
          <a:ln w="9525">
            <a:solidFill>
              <a:srgbClr val="2F9E5F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31520" y="4974336"/>
            <a:ext cx="6583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2F9E5F"/>
                </a:solidFill>
              </a:rPr>
              <a:t>REAL HOY</a:t>
            </a:r>
            <a:endParaRPr lang="en-US" sz="800" dirty="0"/>
          </a:p>
        </p:txBody>
      </p:sp>
      <p:sp>
        <p:nvSpPr>
          <p:cNvPr id="22" name="kpi Coste por tonelada"/>
          <p:cNvSpPr/>
          <p:nvPr/>
        </p:nvSpPr>
        <p:spPr>
          <a:xfrm>
            <a:off x="2880360" y="3547872"/>
            <a:ext cx="2194560" cy="1755648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D9E1EE"/>
            </a:solidFill>
            <a:prstDash val="solid"/>
          </a:ln>
          <a:effectLst>
            <a:outerShdw sx="100000" sy="100000" kx="0" ky="0" algn="bl" rotWithShape="0" blurRad="101600" dist="25400" dir="5400000">
              <a:srgbClr val="0B2A55">
                <a:alpha val="12000"/>
              </a:srgbClr>
            </a:outerShdw>
          </a:effectLst>
        </p:spPr>
      </p:sp>
      <p:sp>
        <p:nvSpPr>
          <p:cNvPr id="23" name="Text 21"/>
          <p:cNvSpPr txBox="1"/>
          <p:nvPr/>
        </p:nvSpPr>
        <p:spPr>
          <a:xfrm>
            <a:off x="3063240" y="367588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B6B88"/>
                </a:solidFill>
              </a:rPr>
              <a:t>Coste por tonelada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3063240" y="3950208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2A55"/>
                </a:solidFill>
              </a:rPr>
              <a:t>96 €</a:t>
            </a:r>
            <a:endParaRPr lang="en-US" sz="2800" dirty="0"/>
          </a:p>
        </p:txBody>
      </p:sp>
      <p:sp>
        <p:nvSpPr>
          <p:cNvPr id="25" name="Text 23"/>
          <p:cNvSpPr txBox="1"/>
          <p:nvPr/>
        </p:nvSpPr>
        <p:spPr>
          <a:xfrm>
            <a:off x="3063240" y="449884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88"/>
                </a:solidFill>
              </a:rPr>
              <a:t>contrato + siGEUS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3063240" y="4974336"/>
            <a:ext cx="864108" cy="219456"/>
          </a:xfrm>
          <a:prstGeom prst="roundRect">
            <a:avLst>
              <a:gd name="adj" fmla="val 50000"/>
            </a:avLst>
          </a:prstGeom>
          <a:solidFill>
            <a:srgbClr val="C77A12">
              <a:alpha val="15000"/>
            </a:srgbClr>
          </a:solidFill>
          <a:ln w="9525">
            <a:solidFill>
              <a:srgbClr val="C77A12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3063240" y="4974336"/>
            <a:ext cx="8641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C77A12"/>
                </a:solidFill>
              </a:rPr>
              <a:t>AL INTEGRAR</a:t>
            </a:r>
            <a:endParaRPr lang="en-US" sz="800" dirty="0"/>
          </a:p>
        </p:txBody>
      </p:sp>
      <p:sp>
        <p:nvSpPr>
          <p:cNvPr id="28" name="grafico"/>
          <p:cNvSpPr/>
          <p:nvPr/>
        </p:nvSpPr>
        <p:spPr>
          <a:xfrm>
            <a:off x="5349240" y="1645920"/>
            <a:ext cx="6263640" cy="36576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D9E1EE"/>
            </a:solidFill>
            <a:prstDash val="solid"/>
          </a:ln>
          <a:effectLst>
            <a:outerShdw sx="100000" sy="100000" kx="0" ky="0" algn="bl" rotWithShape="0" blurRad="101600" dist="25400" dir="5400000">
              <a:srgbClr val="0B2A55">
                <a:alpha val="12000"/>
              </a:srgbClr>
            </a:outerShdw>
          </a:effectLst>
        </p:spPr>
      </p:sp>
      <p:graphicFrame>
        <p:nvGraphicFramePr>
          <p:cNvPr id="29" name="Chart 0" descr=""/>
          <p:cNvGraphicFramePr/>
          <p:nvPr/>
        </p:nvGraphicFramePr>
        <p:xfrm>
          <a:off x="5486400" y="1737360"/>
          <a:ext cx="5989320" cy="32918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30" name="Text 27"/>
          <p:cNvSpPr txBox="1"/>
          <p:nvPr/>
        </p:nvSpPr>
        <p:spPr>
          <a:xfrm>
            <a:off x="5532120" y="5029200"/>
            <a:ext cx="5943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B6B88"/>
                </a:solidFill>
              </a:rPr>
              <a:t>Ilustrativo · siGEUS (Distromel) al recibir el usuario de solo lectura</a:t>
            </a:r>
            <a:endParaRPr lang="en-US" sz="900" dirty="0"/>
          </a:p>
        </p:txBody>
      </p:sp>
      <p:sp>
        <p:nvSpPr>
          <p:cNvPr id="31" name="accion"/>
          <p:cNvSpPr/>
          <p:nvPr/>
        </p:nvSpPr>
        <p:spPr>
          <a:xfrm>
            <a:off x="548640" y="5532120"/>
            <a:ext cx="11064240" cy="731520"/>
          </a:xfrm>
          <a:prstGeom prst="roundRect">
            <a:avLst>
              <a:gd name="adj" fmla="val 15000"/>
            </a:avLst>
          </a:prstGeom>
          <a:solidFill>
            <a:srgbClr val="E8F6F4"/>
          </a:solidFill>
          <a:ln w="12700">
            <a:solidFill>
              <a:srgbClr val="BFE6E0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713232" y="5660136"/>
            <a:ext cx="475488" cy="475488"/>
          </a:xfrm>
          <a:prstGeom prst="ellipse">
            <a:avLst/>
          </a:prstGeom>
          <a:solidFill>
            <a:srgbClr val="17A394"/>
          </a:solidFill>
          <a:ln w="12700">
            <a:solidFill>
              <a:srgbClr val="17A394"/>
            </a:solidFill>
            <a:prstDash val="solid"/>
          </a:ln>
        </p:spPr>
      </p:sp>
      <p:pic>
        <p:nvPicPr>
          <p:cNvPr id="33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6859" y="5783763"/>
            <a:ext cx="228234" cy="228234"/>
          </a:xfrm>
          <a:prstGeom prst="rect">
            <a:avLst/>
          </a:prstGeom>
        </p:spPr>
      </p:pic>
      <p:sp>
        <p:nvSpPr>
          <p:cNvPr id="34" name="Text 30"/>
          <p:cNvSpPr txBox="1"/>
          <p:nvPr/>
        </p:nvSpPr>
        <p:spPr>
          <a:xfrm>
            <a:off x="1325880" y="5532120"/>
            <a:ext cx="10149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6F66"/>
                </a:solidFill>
              </a:rPr>
              <a:t>Acción recomendada  </a:t>
            </a:r>
            <a:pPr indent="0" marL="0">
              <a:buNone/>
            </a:pPr>
            <a:r>
              <a:rPr lang="en-US" sz="1400" dirty="0">
                <a:solidFill>
                  <a:srgbClr val="14213D"/>
                </a:solidFill>
              </a:rPr>
              <a:t>Adelantar la ruta de envases en San José el viernes: 12 contenedores superarán el 95 % antes del fin de semana.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8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3200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MOVILIDAD</a:t>
            </a:r>
            <a:endParaRPr lang="en-US" sz="12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64008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El sábado los parkings de playa se saturan de 13:00 a 16:00</a:t>
            </a:r>
            <a:endParaRPr lang="en-US" sz="3000" dirty="0"/>
          </a:p>
        </p:txBody>
      </p:sp>
      <p:sp>
        <p:nvSpPr>
          <p:cNvPr id="4" name="kpi Ocupación parking"/>
          <p:cNvSpPr/>
          <p:nvPr/>
        </p:nvSpPr>
        <p:spPr>
          <a:xfrm>
            <a:off x="548640" y="1645920"/>
            <a:ext cx="2194560" cy="1755648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D9E1EE"/>
            </a:solidFill>
            <a:prstDash val="solid"/>
          </a:ln>
          <a:effectLst>
            <a:outerShdw sx="100000" sy="100000" kx="0" ky="0" algn="bl" rotWithShape="0" blurRad="101600" dist="25400" dir="5400000">
              <a:srgbClr val="0B2A55">
                <a:alpha val="12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731520" y="177393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B6B88"/>
                </a:solidFill>
              </a:rPr>
              <a:t>Ocupación parking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2048256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2A93B"/>
                </a:solidFill>
              </a:rPr>
              <a:t>86 %</a:t>
            </a:r>
            <a:endParaRPr lang="en-US" sz="28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259689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88"/>
                </a:solidFill>
              </a:rPr>
              <a:t>97 % previsto a las 13:00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731520" y="3072384"/>
            <a:ext cx="1275588" cy="219456"/>
          </a:xfrm>
          <a:prstGeom prst="roundRect">
            <a:avLst>
              <a:gd name="adj" fmla="val 50000"/>
            </a:avLst>
          </a:prstGeom>
          <a:solidFill>
            <a:srgbClr val="2563B0">
              <a:alpha val="15000"/>
            </a:srgbClr>
          </a:solidFill>
          <a:ln w="9525">
            <a:solidFill>
              <a:srgbClr val="2563B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31520" y="3072384"/>
            <a:ext cx="12755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2563B0"/>
                </a:solidFill>
              </a:rPr>
              <a:t>MODELO PREDICTIVO</a:t>
            </a:r>
            <a:endParaRPr lang="en-US" sz="800" dirty="0"/>
          </a:p>
        </p:txBody>
      </p:sp>
      <p:sp>
        <p:nvSpPr>
          <p:cNvPr id="10" name="kpi Horas saturado"/>
          <p:cNvSpPr/>
          <p:nvPr/>
        </p:nvSpPr>
        <p:spPr>
          <a:xfrm>
            <a:off x="2880360" y="1645920"/>
            <a:ext cx="2194560" cy="1755648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D9E1EE"/>
            </a:solidFill>
            <a:prstDash val="solid"/>
          </a:ln>
          <a:effectLst>
            <a:outerShdw sx="100000" sy="100000" kx="0" ky="0" algn="bl" rotWithShape="0" blurRad="101600" dist="25400" dir="5400000">
              <a:srgbClr val="0B2A55">
                <a:alpha val="12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3063240" y="177393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B6B88"/>
                </a:solidFill>
              </a:rPr>
              <a:t>Horas saturado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3063240" y="2048256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05A4D"/>
                </a:solidFill>
              </a:rPr>
              <a:t>14 h</a:t>
            </a:r>
            <a:endParaRPr lang="en-US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3063240" y="259689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88"/>
                </a:solidFill>
              </a:rPr>
              <a:t>en la última semana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063240" y="3072384"/>
            <a:ext cx="658368" cy="219456"/>
          </a:xfrm>
          <a:prstGeom prst="roundRect">
            <a:avLst>
              <a:gd name="adj" fmla="val 50000"/>
            </a:avLst>
          </a:prstGeom>
          <a:solidFill>
            <a:srgbClr val="2F9E5F">
              <a:alpha val="15000"/>
            </a:srgbClr>
          </a:solidFill>
          <a:ln w="9525">
            <a:solidFill>
              <a:srgbClr val="2F9E5F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3063240" y="3072384"/>
            <a:ext cx="6583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2F9E5F"/>
                </a:solidFill>
              </a:rPr>
              <a:t>REAL HOY</a:t>
            </a:r>
            <a:endParaRPr lang="en-US" sz="800" dirty="0"/>
          </a:p>
        </p:txBody>
      </p:sp>
      <p:sp>
        <p:nvSpPr>
          <p:cNvPr id="16" name="kpi Tráfico en accesos"/>
          <p:cNvSpPr/>
          <p:nvPr/>
        </p:nvSpPr>
        <p:spPr>
          <a:xfrm>
            <a:off x="548640" y="3547872"/>
            <a:ext cx="2194560" cy="1755648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D9E1EE"/>
            </a:solidFill>
            <a:prstDash val="solid"/>
          </a:ln>
          <a:effectLst>
            <a:outerShdw sx="100000" sy="100000" kx="0" ky="0" algn="bl" rotWithShape="0" blurRad="101600" dist="25400" dir="5400000">
              <a:srgbClr val="0B2A55">
                <a:alpha val="12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731520" y="367588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B6B88"/>
                </a:solidFill>
              </a:rPr>
              <a:t>Tráfico en accesos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731520" y="3950208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2A55"/>
                </a:solidFill>
              </a:rPr>
              <a:t>540 veh/h</a:t>
            </a:r>
            <a:endParaRPr lang="en-US" sz="2800" dirty="0"/>
          </a:p>
        </p:txBody>
      </p:sp>
      <p:sp>
        <p:nvSpPr>
          <p:cNvPr id="19" name="Text 17"/>
          <p:cNvSpPr txBox="1"/>
          <p:nvPr/>
        </p:nvSpPr>
        <p:spPr>
          <a:xfrm>
            <a:off x="731520" y="449884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88"/>
                </a:solidFill>
              </a:rPr>
              <a:t>+8 % interanual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731520" y="4974336"/>
            <a:ext cx="658368" cy="219456"/>
          </a:xfrm>
          <a:prstGeom prst="roundRect">
            <a:avLst>
              <a:gd name="adj" fmla="val 50000"/>
            </a:avLst>
          </a:prstGeom>
          <a:solidFill>
            <a:srgbClr val="2F9E5F">
              <a:alpha val="15000"/>
            </a:srgbClr>
          </a:solidFill>
          <a:ln w="9525">
            <a:solidFill>
              <a:srgbClr val="2F9E5F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31520" y="4974336"/>
            <a:ext cx="6583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2F9E5F"/>
                </a:solidFill>
              </a:rPr>
              <a:t>REAL HOY</a:t>
            </a:r>
            <a:endParaRPr lang="en-US" sz="800" dirty="0"/>
          </a:p>
        </p:txBody>
      </p:sp>
      <p:sp>
        <p:nvSpPr>
          <p:cNvPr id="22" name="kpi Visitantes por núcleo"/>
          <p:cNvSpPr/>
          <p:nvPr/>
        </p:nvSpPr>
        <p:spPr>
          <a:xfrm>
            <a:off x="2880360" y="3547872"/>
            <a:ext cx="2194560" cy="1755648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D9E1EE"/>
            </a:solidFill>
            <a:prstDash val="solid"/>
          </a:ln>
          <a:effectLst>
            <a:outerShdw sx="100000" sy="100000" kx="0" ky="0" algn="bl" rotWithShape="0" blurRad="101600" dist="25400" dir="5400000">
              <a:srgbClr val="0B2A55">
                <a:alpha val="12000"/>
              </a:srgbClr>
            </a:outerShdw>
          </a:effectLst>
        </p:spPr>
      </p:sp>
      <p:sp>
        <p:nvSpPr>
          <p:cNvPr id="23" name="Text 21"/>
          <p:cNvSpPr txBox="1"/>
          <p:nvPr/>
        </p:nvSpPr>
        <p:spPr>
          <a:xfrm>
            <a:off x="3063240" y="367588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B6B88"/>
                </a:solidFill>
              </a:rPr>
              <a:t>Visitantes por núcleo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3063240" y="3950208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5B6B88"/>
                </a:solidFill>
              </a:rPr>
              <a:t>—</a:t>
            </a:r>
            <a:endParaRPr lang="en-US" sz="2800" dirty="0"/>
          </a:p>
        </p:txBody>
      </p:sp>
      <p:sp>
        <p:nvSpPr>
          <p:cNvPr id="25" name="Text 23"/>
          <p:cNvSpPr txBox="1"/>
          <p:nvPr/>
        </p:nvSpPr>
        <p:spPr>
          <a:xfrm>
            <a:off x="3063240" y="449884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88"/>
                </a:solidFill>
              </a:rPr>
              <a:t>WiFi y contadores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3063240" y="4974336"/>
            <a:ext cx="864108" cy="219456"/>
          </a:xfrm>
          <a:prstGeom prst="roundRect">
            <a:avLst>
              <a:gd name="adj" fmla="val 50000"/>
            </a:avLst>
          </a:prstGeom>
          <a:solidFill>
            <a:srgbClr val="C77A12">
              <a:alpha val="15000"/>
            </a:srgbClr>
          </a:solidFill>
          <a:ln w="9525">
            <a:solidFill>
              <a:srgbClr val="C77A12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3063240" y="4974336"/>
            <a:ext cx="8641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C77A12"/>
                </a:solidFill>
              </a:rPr>
              <a:t>AL INTEGRAR</a:t>
            </a:r>
            <a:endParaRPr lang="en-US" sz="800" dirty="0"/>
          </a:p>
        </p:txBody>
      </p:sp>
      <p:sp>
        <p:nvSpPr>
          <p:cNvPr id="28" name="grafico"/>
          <p:cNvSpPr/>
          <p:nvPr/>
        </p:nvSpPr>
        <p:spPr>
          <a:xfrm>
            <a:off x="5349240" y="1645920"/>
            <a:ext cx="6263640" cy="36576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D9E1EE"/>
            </a:solidFill>
            <a:prstDash val="solid"/>
          </a:ln>
          <a:effectLst>
            <a:outerShdw sx="100000" sy="100000" kx="0" ky="0" algn="bl" rotWithShape="0" blurRad="101600" dist="25400" dir="5400000">
              <a:srgbClr val="0B2A55">
                <a:alpha val="12000"/>
              </a:srgbClr>
            </a:outerShdw>
          </a:effectLst>
        </p:spPr>
      </p:sp>
      <p:graphicFrame>
        <p:nvGraphicFramePr>
          <p:cNvPr id="29" name="Chart 0" descr=""/>
          <p:cNvGraphicFramePr/>
          <p:nvPr/>
        </p:nvGraphicFramePr>
        <p:xfrm>
          <a:off x="5486400" y="1737360"/>
          <a:ext cx="5989320" cy="32918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30" name="Text 27"/>
          <p:cNvSpPr txBox="1"/>
          <p:nvPr/>
        </p:nvSpPr>
        <p:spPr>
          <a:xfrm>
            <a:off x="5532120" y="5029200"/>
            <a:ext cx="5943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B6B88"/>
                </a:solidFill>
              </a:rPr>
              <a:t>Ilustrativo · /verticales/movilidad/overview + curva típica por día</a:t>
            </a:r>
            <a:endParaRPr lang="en-US" sz="900" dirty="0"/>
          </a:p>
        </p:txBody>
      </p:sp>
      <p:sp>
        <p:nvSpPr>
          <p:cNvPr id="31" name="accion"/>
          <p:cNvSpPr/>
          <p:nvPr/>
        </p:nvSpPr>
        <p:spPr>
          <a:xfrm>
            <a:off x="548640" y="5532120"/>
            <a:ext cx="11064240" cy="731520"/>
          </a:xfrm>
          <a:prstGeom prst="roundRect">
            <a:avLst>
              <a:gd name="adj" fmla="val 15000"/>
            </a:avLst>
          </a:prstGeom>
          <a:solidFill>
            <a:srgbClr val="E8F6F4"/>
          </a:solidFill>
          <a:ln w="12700">
            <a:solidFill>
              <a:srgbClr val="BFE6E0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713232" y="5660136"/>
            <a:ext cx="475488" cy="475488"/>
          </a:xfrm>
          <a:prstGeom prst="ellipse">
            <a:avLst/>
          </a:prstGeom>
          <a:solidFill>
            <a:srgbClr val="17A394"/>
          </a:solidFill>
          <a:ln w="12700">
            <a:solidFill>
              <a:srgbClr val="17A394"/>
            </a:solidFill>
            <a:prstDash val="solid"/>
          </a:ln>
        </p:spPr>
      </p:sp>
      <p:pic>
        <p:nvPicPr>
          <p:cNvPr id="33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6859" y="5783763"/>
            <a:ext cx="228234" cy="228234"/>
          </a:xfrm>
          <a:prstGeom prst="rect">
            <a:avLst/>
          </a:prstGeom>
        </p:spPr>
      </p:pic>
      <p:sp>
        <p:nvSpPr>
          <p:cNvPr id="34" name="Text 30"/>
          <p:cNvSpPr txBox="1"/>
          <p:nvPr/>
        </p:nvSpPr>
        <p:spPr>
          <a:xfrm>
            <a:off x="1325880" y="5532120"/>
            <a:ext cx="10149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6F66"/>
                </a:solidFill>
              </a:rPr>
              <a:t>Acción recomendada  </a:t>
            </a:r>
            <a:pPr indent="0" marL="0">
              <a:buNone/>
            </a:pPr>
            <a:r>
              <a:rPr lang="en-US" sz="1400" dirty="0">
                <a:solidFill>
                  <a:srgbClr val="14213D"/>
                </a:solidFill>
              </a:rPr>
              <a:t>Saturación prevista en Los Genoveses de 13:00 a 16:00: aviso en tótems y app, y lanzadera desde San José.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8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3200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SEGURIDAD</a:t>
            </a:r>
            <a:endParaRPr lang="en-US" sz="12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64008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San José y Níjar concentran casi la mitad de las incidencias</a:t>
            </a:r>
            <a:endParaRPr lang="en-US" sz="3000" dirty="0"/>
          </a:p>
        </p:txBody>
      </p:sp>
      <p:sp>
        <p:nvSpPr>
          <p:cNvPr id="4" name="kpi Cámaras disponibles"/>
          <p:cNvSpPr/>
          <p:nvPr/>
        </p:nvSpPr>
        <p:spPr>
          <a:xfrm>
            <a:off x="548640" y="1645920"/>
            <a:ext cx="2194560" cy="1755648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D9E1EE"/>
            </a:solidFill>
            <a:prstDash val="solid"/>
          </a:ln>
          <a:effectLst>
            <a:outerShdw sx="100000" sy="100000" kx="0" ky="0" algn="bl" rotWithShape="0" blurRad="101600" dist="25400" dir="5400000">
              <a:srgbClr val="0B2A55">
                <a:alpha val="12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731520" y="177393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B6B88"/>
                </a:solidFill>
              </a:rPr>
              <a:t>Cámaras disponibles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2048256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F9E5F"/>
                </a:solidFill>
              </a:rPr>
              <a:t>96 %</a:t>
            </a:r>
            <a:endParaRPr lang="en-US" sz="28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259689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88"/>
                </a:solidFill>
              </a:rPr>
              <a:t>22 h sin cobertura en 30 días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731520" y="3072384"/>
            <a:ext cx="658368" cy="219456"/>
          </a:xfrm>
          <a:prstGeom prst="roundRect">
            <a:avLst>
              <a:gd name="adj" fmla="val 50000"/>
            </a:avLst>
          </a:prstGeom>
          <a:solidFill>
            <a:srgbClr val="2F9E5F">
              <a:alpha val="15000"/>
            </a:srgbClr>
          </a:solidFill>
          <a:ln w="9525">
            <a:solidFill>
              <a:srgbClr val="2F9E5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31520" y="3072384"/>
            <a:ext cx="6583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2F9E5F"/>
                </a:solidFill>
              </a:rPr>
              <a:t>REAL HOY</a:t>
            </a:r>
            <a:endParaRPr lang="en-US" sz="800" dirty="0"/>
          </a:p>
        </p:txBody>
      </p:sp>
      <p:sp>
        <p:nvSpPr>
          <p:cNvPr id="10" name="kpi Fuera de servicio"/>
          <p:cNvSpPr/>
          <p:nvPr/>
        </p:nvSpPr>
        <p:spPr>
          <a:xfrm>
            <a:off x="2880360" y="1645920"/>
            <a:ext cx="2194560" cy="1755648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D9E1EE"/>
            </a:solidFill>
            <a:prstDash val="solid"/>
          </a:ln>
          <a:effectLst>
            <a:outerShdw sx="100000" sy="100000" kx="0" ky="0" algn="bl" rotWithShape="0" blurRad="101600" dist="25400" dir="5400000">
              <a:srgbClr val="0B2A55">
                <a:alpha val="12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3063240" y="177393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B6B88"/>
                </a:solidFill>
              </a:rPr>
              <a:t>Fuera de servicio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3063240" y="2048256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05A4D"/>
                </a:solidFill>
              </a:rPr>
              <a:t>1</a:t>
            </a:r>
            <a:endParaRPr lang="en-US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3063240" y="259689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88"/>
                </a:solidFill>
              </a:rPr>
              <a:t>4 días sin reparar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063240" y="3072384"/>
            <a:ext cx="658368" cy="219456"/>
          </a:xfrm>
          <a:prstGeom prst="roundRect">
            <a:avLst>
              <a:gd name="adj" fmla="val 50000"/>
            </a:avLst>
          </a:prstGeom>
          <a:solidFill>
            <a:srgbClr val="2F9E5F">
              <a:alpha val="15000"/>
            </a:srgbClr>
          </a:solidFill>
          <a:ln w="9525">
            <a:solidFill>
              <a:srgbClr val="2F9E5F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3063240" y="3072384"/>
            <a:ext cx="6583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2F9E5F"/>
                </a:solidFill>
              </a:rPr>
              <a:t>REAL HOY</a:t>
            </a:r>
            <a:endParaRPr lang="en-US" sz="800" dirty="0"/>
          </a:p>
        </p:txBody>
      </p:sp>
      <p:sp>
        <p:nvSpPr>
          <p:cNvPr id="16" name="kpi ANS de reparación"/>
          <p:cNvSpPr/>
          <p:nvPr/>
        </p:nvSpPr>
        <p:spPr>
          <a:xfrm>
            <a:off x="548640" y="3547872"/>
            <a:ext cx="2194560" cy="1755648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D9E1EE"/>
            </a:solidFill>
            <a:prstDash val="solid"/>
          </a:ln>
          <a:effectLst>
            <a:outerShdw sx="100000" sy="100000" kx="0" ky="0" algn="bl" rotWithShape="0" blurRad="101600" dist="25400" dir="5400000">
              <a:srgbClr val="0B2A55">
                <a:alpha val="12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731520" y="367588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B6B88"/>
                </a:solidFill>
              </a:rPr>
              <a:t>ANS de reparación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731520" y="3950208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2A55"/>
                </a:solidFill>
              </a:rPr>
              <a:t>92 %</a:t>
            </a:r>
            <a:endParaRPr lang="en-US" sz="2800" dirty="0"/>
          </a:p>
        </p:txBody>
      </p:sp>
      <p:sp>
        <p:nvSpPr>
          <p:cNvPr id="19" name="Text 17"/>
          <p:cNvSpPr txBox="1"/>
          <p:nvPr/>
        </p:nvSpPr>
        <p:spPr>
          <a:xfrm>
            <a:off x="731520" y="449884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88"/>
                </a:solidFill>
              </a:rPr>
              <a:t>objetivo 95 %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731520" y="4974336"/>
            <a:ext cx="658368" cy="219456"/>
          </a:xfrm>
          <a:prstGeom prst="roundRect">
            <a:avLst>
              <a:gd name="adj" fmla="val 50000"/>
            </a:avLst>
          </a:prstGeom>
          <a:solidFill>
            <a:srgbClr val="2F9E5F">
              <a:alpha val="15000"/>
            </a:srgbClr>
          </a:solidFill>
          <a:ln w="9525">
            <a:solidFill>
              <a:srgbClr val="2F9E5F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31520" y="4974336"/>
            <a:ext cx="6583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2F9E5F"/>
                </a:solidFill>
              </a:rPr>
              <a:t>REAL HOY</a:t>
            </a:r>
            <a:endParaRPr lang="en-US" sz="800" dirty="0"/>
          </a:p>
        </p:txBody>
      </p:sp>
      <p:sp>
        <p:nvSpPr>
          <p:cNvPr id="22" name="kpi Eventos de analítica"/>
          <p:cNvSpPr/>
          <p:nvPr/>
        </p:nvSpPr>
        <p:spPr>
          <a:xfrm>
            <a:off x="2880360" y="3547872"/>
            <a:ext cx="2194560" cy="1755648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D9E1EE"/>
            </a:solidFill>
            <a:prstDash val="solid"/>
          </a:ln>
          <a:effectLst>
            <a:outerShdw sx="100000" sy="100000" kx="0" ky="0" algn="bl" rotWithShape="0" blurRad="101600" dist="25400" dir="5400000">
              <a:srgbClr val="0B2A55">
                <a:alpha val="12000"/>
              </a:srgbClr>
            </a:outerShdw>
          </a:effectLst>
        </p:spPr>
      </p:sp>
      <p:sp>
        <p:nvSpPr>
          <p:cNvPr id="23" name="Text 21"/>
          <p:cNvSpPr txBox="1"/>
          <p:nvPr/>
        </p:nvSpPr>
        <p:spPr>
          <a:xfrm>
            <a:off x="3063240" y="367588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B6B88"/>
                </a:solidFill>
              </a:rPr>
              <a:t>Eventos de analítica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3063240" y="3950208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5B6B88"/>
                </a:solidFill>
              </a:rPr>
              <a:t>—</a:t>
            </a:r>
            <a:endParaRPr lang="en-US" sz="2800" dirty="0"/>
          </a:p>
        </p:txBody>
      </p:sp>
      <p:sp>
        <p:nvSpPr>
          <p:cNvPr id="25" name="Text 23"/>
          <p:cNvSpPr txBox="1"/>
          <p:nvPr/>
        </p:nvSpPr>
        <p:spPr>
          <a:xfrm>
            <a:off x="3063240" y="449884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88"/>
                </a:solidFill>
              </a:rPr>
              <a:t>aglomeración, intrusión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3063240" y="4974336"/>
            <a:ext cx="864108" cy="219456"/>
          </a:xfrm>
          <a:prstGeom prst="roundRect">
            <a:avLst>
              <a:gd name="adj" fmla="val 50000"/>
            </a:avLst>
          </a:prstGeom>
          <a:solidFill>
            <a:srgbClr val="C77A12">
              <a:alpha val="15000"/>
            </a:srgbClr>
          </a:solidFill>
          <a:ln w="9525">
            <a:solidFill>
              <a:srgbClr val="C77A12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3063240" y="4974336"/>
            <a:ext cx="8641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C77A12"/>
                </a:solidFill>
              </a:rPr>
              <a:t>AL INTEGRAR</a:t>
            </a:r>
            <a:endParaRPr lang="en-US" sz="800" dirty="0"/>
          </a:p>
        </p:txBody>
      </p:sp>
      <p:sp>
        <p:nvSpPr>
          <p:cNvPr id="28" name="grafico"/>
          <p:cNvSpPr/>
          <p:nvPr/>
        </p:nvSpPr>
        <p:spPr>
          <a:xfrm>
            <a:off x="5349240" y="1645920"/>
            <a:ext cx="6263640" cy="36576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D9E1EE"/>
            </a:solidFill>
            <a:prstDash val="solid"/>
          </a:ln>
          <a:effectLst>
            <a:outerShdw sx="100000" sy="100000" kx="0" ky="0" algn="bl" rotWithShape="0" blurRad="101600" dist="25400" dir="5400000">
              <a:srgbClr val="0B2A55">
                <a:alpha val="12000"/>
              </a:srgbClr>
            </a:outerShdw>
          </a:effectLst>
        </p:spPr>
      </p:sp>
      <p:graphicFrame>
        <p:nvGraphicFramePr>
          <p:cNvPr id="29" name="Chart 0" descr=""/>
          <p:cNvGraphicFramePr/>
          <p:nvPr/>
        </p:nvGraphicFramePr>
        <p:xfrm>
          <a:off x="5486400" y="1737360"/>
          <a:ext cx="5989320" cy="32918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30" name="Text 27"/>
          <p:cNvSpPr txBox="1"/>
          <p:nvPr/>
        </p:nvSpPr>
        <p:spPr>
          <a:xfrm>
            <a:off x="5532120" y="5029200"/>
            <a:ext cx="5943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B6B88"/>
                </a:solidFill>
              </a:rPr>
              <a:t>Ilustrativo · /verticales/seguridad/overview + incidencias</a:t>
            </a:r>
            <a:endParaRPr lang="en-US" sz="900" dirty="0"/>
          </a:p>
        </p:txBody>
      </p:sp>
      <p:sp>
        <p:nvSpPr>
          <p:cNvPr id="31" name="accion"/>
          <p:cNvSpPr/>
          <p:nvPr/>
        </p:nvSpPr>
        <p:spPr>
          <a:xfrm>
            <a:off x="548640" y="5532120"/>
            <a:ext cx="11064240" cy="731520"/>
          </a:xfrm>
          <a:prstGeom prst="roundRect">
            <a:avLst>
              <a:gd name="adj" fmla="val 15000"/>
            </a:avLst>
          </a:prstGeom>
          <a:solidFill>
            <a:srgbClr val="E8F6F4"/>
          </a:solidFill>
          <a:ln w="12700">
            <a:solidFill>
              <a:srgbClr val="BFE6E0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713232" y="5660136"/>
            <a:ext cx="475488" cy="475488"/>
          </a:xfrm>
          <a:prstGeom prst="ellipse">
            <a:avLst/>
          </a:prstGeom>
          <a:solidFill>
            <a:srgbClr val="17A394"/>
          </a:solidFill>
          <a:ln w="12700">
            <a:solidFill>
              <a:srgbClr val="17A394"/>
            </a:solidFill>
            <a:prstDash val="solid"/>
          </a:ln>
        </p:spPr>
      </p:sp>
      <p:pic>
        <p:nvPicPr>
          <p:cNvPr id="33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6859" y="5783763"/>
            <a:ext cx="228234" cy="228234"/>
          </a:xfrm>
          <a:prstGeom prst="rect">
            <a:avLst/>
          </a:prstGeom>
        </p:spPr>
      </p:pic>
      <p:sp>
        <p:nvSpPr>
          <p:cNvPr id="34" name="Text 30"/>
          <p:cNvSpPr txBox="1"/>
          <p:nvPr/>
        </p:nvSpPr>
        <p:spPr>
          <a:xfrm>
            <a:off x="1325880" y="5532120"/>
            <a:ext cx="10149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6F66"/>
                </a:solidFill>
              </a:rPr>
              <a:t>Acción recomendada  </a:t>
            </a:r>
            <a:pPr indent="0" marL="0">
              <a:buNone/>
            </a:pPr>
            <a:r>
              <a:rPr lang="en-US" sz="1400" dirty="0">
                <a:solidFill>
                  <a:srgbClr val="14213D"/>
                </a:solidFill>
              </a:rPr>
              <a:t>La cámara del paseo de San José lleva 4 días sin comunicación y hay mercadillo el sábado: priorizar su reparación.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8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3200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ENERGÍA MUNICIPAL</a:t>
            </a:r>
            <a:endParaRPr lang="en-US" sz="12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64008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Los edificios municipales consumen un 6 % menos que en 2025</a:t>
            </a:r>
            <a:endParaRPr lang="en-US" sz="3000" dirty="0"/>
          </a:p>
        </p:txBody>
      </p:sp>
      <p:sp>
        <p:nvSpPr>
          <p:cNvPr id="4" name="kpi Consumo del mes"/>
          <p:cNvSpPr/>
          <p:nvPr/>
        </p:nvSpPr>
        <p:spPr>
          <a:xfrm>
            <a:off x="548640" y="1645920"/>
            <a:ext cx="2194560" cy="1755648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D9E1EE"/>
            </a:solidFill>
            <a:prstDash val="solid"/>
          </a:ln>
          <a:effectLst>
            <a:outerShdw sx="100000" sy="100000" kx="0" ky="0" algn="bl" rotWithShape="0" blurRad="101600" dist="25400" dir="5400000">
              <a:srgbClr val="0B2A55">
                <a:alpha val="12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731520" y="177393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B6B88"/>
                </a:solidFill>
              </a:rPr>
              <a:t>Consumo del mes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2048256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2A55"/>
                </a:solidFill>
              </a:rPr>
              <a:t>468 MWh</a:t>
            </a:r>
            <a:endParaRPr lang="en-US" sz="28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259689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88"/>
                </a:solidFill>
              </a:rPr>
              <a:t>88.600 € · −6 %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731520" y="3072384"/>
            <a:ext cx="658368" cy="219456"/>
          </a:xfrm>
          <a:prstGeom prst="roundRect">
            <a:avLst>
              <a:gd name="adj" fmla="val 50000"/>
            </a:avLst>
          </a:prstGeom>
          <a:solidFill>
            <a:srgbClr val="2F9E5F">
              <a:alpha val="15000"/>
            </a:srgbClr>
          </a:solidFill>
          <a:ln w="9525">
            <a:solidFill>
              <a:srgbClr val="2F9E5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31520" y="3072384"/>
            <a:ext cx="6583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2F9E5F"/>
                </a:solidFill>
              </a:rPr>
              <a:t>REAL HOY</a:t>
            </a:r>
            <a:endParaRPr lang="en-US" sz="800" dirty="0"/>
          </a:p>
        </p:txBody>
      </p:sp>
      <p:sp>
        <p:nvSpPr>
          <p:cNvPr id="10" name="kpi Autoconsumo FV"/>
          <p:cNvSpPr/>
          <p:nvPr/>
        </p:nvSpPr>
        <p:spPr>
          <a:xfrm>
            <a:off x="2880360" y="1645920"/>
            <a:ext cx="2194560" cy="1755648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D9E1EE"/>
            </a:solidFill>
            <a:prstDash val="solid"/>
          </a:ln>
          <a:effectLst>
            <a:outerShdw sx="100000" sy="100000" kx="0" ky="0" algn="bl" rotWithShape="0" blurRad="101600" dist="25400" dir="5400000">
              <a:srgbClr val="0B2A55">
                <a:alpha val="12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3063240" y="177393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B6B88"/>
                </a:solidFill>
              </a:rPr>
              <a:t>Autoconsumo FV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3063240" y="2048256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F9E5F"/>
                </a:solidFill>
              </a:rPr>
              <a:t>4 %</a:t>
            </a:r>
            <a:endParaRPr lang="en-US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3063240" y="259689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88"/>
                </a:solidFill>
              </a:rPr>
              <a:t>3.500 €/mes de ahorro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063240" y="3072384"/>
            <a:ext cx="658368" cy="219456"/>
          </a:xfrm>
          <a:prstGeom prst="roundRect">
            <a:avLst>
              <a:gd name="adj" fmla="val 50000"/>
            </a:avLst>
          </a:prstGeom>
          <a:solidFill>
            <a:srgbClr val="2F9E5F">
              <a:alpha val="15000"/>
            </a:srgbClr>
          </a:solidFill>
          <a:ln w="9525">
            <a:solidFill>
              <a:srgbClr val="2F9E5F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3063240" y="3072384"/>
            <a:ext cx="6583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2F9E5F"/>
                </a:solidFill>
              </a:rPr>
              <a:t>REAL HOY</a:t>
            </a:r>
            <a:endParaRPr lang="en-US" sz="800" dirty="0"/>
          </a:p>
        </p:txBody>
      </p:sp>
      <p:sp>
        <p:nvSpPr>
          <p:cNvPr id="16" name="kpi Potencia sobrante"/>
          <p:cNvSpPr/>
          <p:nvPr/>
        </p:nvSpPr>
        <p:spPr>
          <a:xfrm>
            <a:off x="548640" y="3547872"/>
            <a:ext cx="2194560" cy="1755648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D9E1EE"/>
            </a:solidFill>
            <a:prstDash val="solid"/>
          </a:ln>
          <a:effectLst>
            <a:outerShdw sx="100000" sy="100000" kx="0" ky="0" algn="bl" rotWithShape="0" blurRad="101600" dist="25400" dir="5400000">
              <a:srgbClr val="0B2A55">
                <a:alpha val="12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731520" y="367588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B6B88"/>
                </a:solidFill>
              </a:rPr>
              <a:t>Potencia sobrante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731520" y="3950208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2A93B"/>
                </a:solidFill>
              </a:rPr>
              <a:t>11 CUPS</a:t>
            </a:r>
            <a:endParaRPr lang="en-US" sz="2800" dirty="0"/>
          </a:p>
        </p:txBody>
      </p:sp>
      <p:sp>
        <p:nvSpPr>
          <p:cNvPr id="19" name="Text 17"/>
          <p:cNvSpPr txBox="1"/>
          <p:nvPr/>
        </p:nvSpPr>
        <p:spPr>
          <a:xfrm>
            <a:off x="731520" y="449884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88"/>
                </a:solidFill>
              </a:rPr>
              <a:t>9.200 €/año en término fijo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731520" y="4974336"/>
            <a:ext cx="864108" cy="219456"/>
          </a:xfrm>
          <a:prstGeom prst="roundRect">
            <a:avLst>
              <a:gd name="adj" fmla="val 50000"/>
            </a:avLst>
          </a:prstGeom>
          <a:solidFill>
            <a:srgbClr val="C77A12">
              <a:alpha val="15000"/>
            </a:srgbClr>
          </a:solidFill>
          <a:ln w="9525">
            <a:solidFill>
              <a:srgbClr val="C77A12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31520" y="4974336"/>
            <a:ext cx="8641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C77A12"/>
                </a:solidFill>
              </a:rPr>
              <a:t>AL INTEGRAR</a:t>
            </a:r>
            <a:endParaRPr lang="en-US" sz="800" dirty="0"/>
          </a:p>
        </p:txBody>
      </p:sp>
      <p:sp>
        <p:nvSpPr>
          <p:cNvPr id="22" name="kpi Previsión diciembre"/>
          <p:cNvSpPr/>
          <p:nvPr/>
        </p:nvSpPr>
        <p:spPr>
          <a:xfrm>
            <a:off x="2880360" y="3547872"/>
            <a:ext cx="2194560" cy="1755648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D9E1EE"/>
            </a:solidFill>
            <a:prstDash val="solid"/>
          </a:ln>
          <a:effectLst>
            <a:outerShdw sx="100000" sy="100000" kx="0" ky="0" algn="bl" rotWithShape="0" blurRad="101600" dist="25400" dir="5400000">
              <a:srgbClr val="0B2A55">
                <a:alpha val="12000"/>
              </a:srgbClr>
            </a:outerShdw>
          </a:effectLst>
        </p:spPr>
      </p:sp>
      <p:sp>
        <p:nvSpPr>
          <p:cNvPr id="23" name="Text 21"/>
          <p:cNvSpPr txBox="1"/>
          <p:nvPr/>
        </p:nvSpPr>
        <p:spPr>
          <a:xfrm>
            <a:off x="3063240" y="367588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B6B88"/>
                </a:solidFill>
              </a:rPr>
              <a:t>Previsión diciembre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3063240" y="3950208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563B0"/>
                </a:solidFill>
              </a:rPr>
              <a:t>512 MWh</a:t>
            </a:r>
            <a:endParaRPr lang="en-US" sz="2800" dirty="0"/>
          </a:p>
        </p:txBody>
      </p:sp>
      <p:sp>
        <p:nvSpPr>
          <p:cNvPr id="25" name="Text 23"/>
          <p:cNvSpPr txBox="1"/>
          <p:nvPr/>
        </p:nvSpPr>
        <p:spPr>
          <a:xfrm>
            <a:off x="3063240" y="449884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88"/>
                </a:solidFill>
              </a:rPr>
              <a:t>noches largas y frío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3063240" y="4974336"/>
            <a:ext cx="1275588" cy="219456"/>
          </a:xfrm>
          <a:prstGeom prst="roundRect">
            <a:avLst>
              <a:gd name="adj" fmla="val 50000"/>
            </a:avLst>
          </a:prstGeom>
          <a:solidFill>
            <a:srgbClr val="2563B0">
              <a:alpha val="15000"/>
            </a:srgbClr>
          </a:solidFill>
          <a:ln w="9525">
            <a:solidFill>
              <a:srgbClr val="2563B0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3063240" y="4974336"/>
            <a:ext cx="12755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2563B0"/>
                </a:solidFill>
              </a:rPr>
              <a:t>MODELO PREDICTIVO</a:t>
            </a:r>
            <a:endParaRPr lang="en-US" sz="800" dirty="0"/>
          </a:p>
        </p:txBody>
      </p:sp>
      <p:sp>
        <p:nvSpPr>
          <p:cNvPr id="28" name="grafico"/>
          <p:cNvSpPr/>
          <p:nvPr/>
        </p:nvSpPr>
        <p:spPr>
          <a:xfrm>
            <a:off x="5349240" y="1645920"/>
            <a:ext cx="6263640" cy="36576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D9E1EE"/>
            </a:solidFill>
            <a:prstDash val="solid"/>
          </a:ln>
          <a:effectLst>
            <a:outerShdw sx="100000" sy="100000" kx="0" ky="0" algn="bl" rotWithShape="0" blurRad="101600" dist="25400" dir="5400000">
              <a:srgbClr val="0B2A55">
                <a:alpha val="12000"/>
              </a:srgbClr>
            </a:outerShdw>
          </a:effectLst>
        </p:spPr>
      </p:sp>
      <p:graphicFrame>
        <p:nvGraphicFramePr>
          <p:cNvPr id="29" name="Chart 0" descr=""/>
          <p:cNvGraphicFramePr/>
          <p:nvPr/>
        </p:nvGraphicFramePr>
        <p:xfrm>
          <a:off x="5486400" y="1737360"/>
          <a:ext cx="5989320" cy="32918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30" name="Text 27"/>
          <p:cNvSpPr txBox="1"/>
          <p:nvPr/>
        </p:nvSpPr>
        <p:spPr>
          <a:xfrm>
            <a:off x="5532120" y="5029200"/>
            <a:ext cx="5943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B6B88"/>
                </a:solidFill>
              </a:rPr>
              <a:t>Ilustrativo · oct 2026 = valor actual (467.921 kWh) · Datadis + /verticales/energia/overview</a:t>
            </a:r>
            <a:endParaRPr lang="en-US" sz="900" dirty="0"/>
          </a:p>
        </p:txBody>
      </p:sp>
      <p:sp>
        <p:nvSpPr>
          <p:cNvPr id="31" name="accion"/>
          <p:cNvSpPr/>
          <p:nvPr/>
        </p:nvSpPr>
        <p:spPr>
          <a:xfrm>
            <a:off x="548640" y="5532120"/>
            <a:ext cx="11064240" cy="731520"/>
          </a:xfrm>
          <a:prstGeom prst="roundRect">
            <a:avLst>
              <a:gd name="adj" fmla="val 15000"/>
            </a:avLst>
          </a:prstGeom>
          <a:solidFill>
            <a:srgbClr val="E8F6F4"/>
          </a:solidFill>
          <a:ln w="12700">
            <a:solidFill>
              <a:srgbClr val="BFE6E0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713232" y="5660136"/>
            <a:ext cx="475488" cy="475488"/>
          </a:xfrm>
          <a:prstGeom prst="ellipse">
            <a:avLst/>
          </a:prstGeom>
          <a:solidFill>
            <a:srgbClr val="17A394"/>
          </a:solidFill>
          <a:ln w="12700">
            <a:solidFill>
              <a:srgbClr val="17A394"/>
            </a:solidFill>
            <a:prstDash val="solid"/>
          </a:ln>
        </p:spPr>
      </p:sp>
      <p:pic>
        <p:nvPicPr>
          <p:cNvPr id="33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6859" y="5783763"/>
            <a:ext cx="228234" cy="228234"/>
          </a:xfrm>
          <a:prstGeom prst="rect">
            <a:avLst/>
          </a:prstGeom>
        </p:spPr>
      </p:pic>
      <p:sp>
        <p:nvSpPr>
          <p:cNvPr id="34" name="Text 30"/>
          <p:cNvSpPr txBox="1"/>
          <p:nvPr/>
        </p:nvSpPr>
        <p:spPr>
          <a:xfrm>
            <a:off x="1325880" y="5532120"/>
            <a:ext cx="10149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6F66"/>
                </a:solidFill>
              </a:rPr>
              <a:t>Acción recomendada  </a:t>
            </a:r>
            <a:pPr indent="0" marL="0">
              <a:buNone/>
            </a:pPr>
            <a:r>
              <a:rPr lang="en-US" sz="1400" dirty="0">
                <a:solidFill>
                  <a:srgbClr val="14213D"/>
                </a:solidFill>
              </a:rPr>
              <a:t>FV en las cubiertas de los 5 edificios de mayor consumo diurno: autoconsumo del 4 % al 15 %, unos 42.000 €/año.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8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3200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RECOMENDACIONES IA Y CONSUMO DE IA</a:t>
            </a:r>
            <a:endParaRPr lang="en-US" sz="12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64008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Cada recomendación, con su impacto y seguimiento hasta el ahorro</a:t>
            </a:r>
            <a:endParaRPr lang="en-US" sz="3000" dirty="0"/>
          </a:p>
        </p:txBody>
      </p:sp>
      <p:sp>
        <p:nvSpPr>
          <p:cNvPr id="4" name="grafico"/>
          <p:cNvSpPr/>
          <p:nvPr/>
        </p:nvSpPr>
        <p:spPr>
          <a:xfrm>
            <a:off x="548640" y="1645920"/>
            <a:ext cx="5669280" cy="3749040"/>
          </a:xfrm>
          <a:prstGeom prst="roundRect">
            <a:avLst>
              <a:gd name="adj" fmla="val 2927"/>
            </a:avLst>
          </a:prstGeom>
          <a:solidFill>
            <a:srgbClr val="FFFFFF"/>
          </a:solidFill>
          <a:ln w="12700">
            <a:solidFill>
              <a:srgbClr val="D9E1EE"/>
            </a:solidFill>
            <a:prstDash val="solid"/>
          </a:ln>
          <a:effectLst>
            <a:outerShdw sx="100000" sy="100000" kx="0" ky="0" algn="bl" rotWithShape="0" blurRad="101600" dist="25400" dir="5400000">
              <a:srgbClr val="0B2A55">
                <a:alpha val="12000"/>
              </a:srgbClr>
            </a:outerShdw>
          </a:effectLst>
        </p:spPr>
      </p:sp>
      <p:graphicFrame>
        <p:nvGraphicFramePr>
          <p:cNvPr id="5" name="Chart 0" descr=""/>
          <p:cNvGraphicFramePr/>
          <p:nvPr/>
        </p:nvGraphicFramePr>
        <p:xfrm>
          <a:off x="685800" y="1737360"/>
          <a:ext cx="5394960" cy="3108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 txBox="1"/>
          <p:nvPr/>
        </p:nvSpPr>
        <p:spPr>
          <a:xfrm>
            <a:off x="777240" y="4846320"/>
            <a:ext cx="5303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F9E5F"/>
                </a:solidFill>
              </a:rPr>
              <a:t>31.000 € </a:t>
            </a:r>
            <a:pPr indent="0" marL="0">
              <a:buNone/>
            </a:pPr>
            <a:r>
              <a:rPr lang="en-US" sz="1400" dirty="0">
                <a:solidFill>
                  <a:srgbClr val="14213D"/>
                </a:solidFill>
              </a:rPr>
              <a:t>de ahorro ya realizado frente a 38.000 € estimados</a:t>
            </a:r>
            <a:endParaRPr lang="en-US" sz="1400" dirty="0"/>
          </a:p>
        </p:txBody>
      </p:sp>
      <p:sp>
        <p:nvSpPr>
          <p:cNvPr id="7" name="Ficha por recomendación"/>
          <p:cNvSpPr/>
          <p:nvPr/>
        </p:nvSpPr>
        <p:spPr>
          <a:xfrm>
            <a:off x="6492240" y="1645920"/>
            <a:ext cx="5120640" cy="1143000"/>
          </a:xfrm>
          <a:prstGeom prst="roundRect">
            <a:avLst>
              <a:gd name="adj" fmla="val 9600"/>
            </a:avLst>
          </a:prstGeom>
          <a:solidFill>
            <a:srgbClr val="FFFFFF"/>
          </a:solidFill>
          <a:ln w="12700">
            <a:solidFill>
              <a:srgbClr val="D9E1EE"/>
            </a:solidFill>
            <a:prstDash val="solid"/>
          </a:ln>
          <a:effectLst>
            <a:outerShdw sx="100000" sy="100000" kx="0" ky="0" algn="bl" rotWithShape="0" blurRad="101600" dist="25400" dir="5400000">
              <a:srgbClr val="0B2A55">
                <a:alpha val="12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6675120" y="1920240"/>
            <a:ext cx="594360" cy="594360"/>
          </a:xfrm>
          <a:prstGeom prst="ellipse">
            <a:avLst/>
          </a:prstGeom>
          <a:solidFill>
            <a:srgbClr val="2563B0"/>
          </a:solidFill>
          <a:ln w="12700">
            <a:solidFill>
              <a:srgbClr val="2563B0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29654" y="2074774"/>
            <a:ext cx="285293" cy="285293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7452360" y="1719072"/>
            <a:ext cx="4023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2A55"/>
                </a:solidFill>
              </a:rPr>
              <a:t>Ficha por recomendación</a:t>
            </a:r>
            <a:endParaRPr lang="en-US" sz="1600" dirty="0"/>
          </a:p>
          <a:p>
            <a:pPr indent="0" marL="0">
              <a:buNone/>
            </a:pPr>
            <a:r>
              <a:rPr lang="en-US" sz="1300" dirty="0">
                <a:solidFill>
                  <a:srgbClr val="14213D"/>
                </a:solidFill>
              </a:rPr>
              <a:t>Módulo, prioridad, € en juego, plazo, responsable y estado.</a:t>
            </a:r>
            <a:endParaRPr lang="en-US" sz="1600" dirty="0"/>
          </a:p>
        </p:txBody>
      </p:sp>
      <p:sp>
        <p:nvSpPr>
          <p:cNvPr id="11" name="Resumen semanal automático"/>
          <p:cNvSpPr/>
          <p:nvPr/>
        </p:nvSpPr>
        <p:spPr>
          <a:xfrm>
            <a:off x="6492240" y="2926080"/>
            <a:ext cx="5120640" cy="1143000"/>
          </a:xfrm>
          <a:prstGeom prst="roundRect">
            <a:avLst>
              <a:gd name="adj" fmla="val 9600"/>
            </a:avLst>
          </a:prstGeom>
          <a:solidFill>
            <a:srgbClr val="FFFFFF"/>
          </a:solidFill>
          <a:ln w="12700">
            <a:solidFill>
              <a:srgbClr val="D9E1EE"/>
            </a:solidFill>
            <a:prstDash val="solid"/>
          </a:ln>
          <a:effectLst>
            <a:outerShdw sx="100000" sy="100000" kx="0" ky="0" algn="bl" rotWithShape="0" blurRad="101600" dist="25400" dir="5400000">
              <a:srgbClr val="0B2A55">
                <a:alpha val="12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6675120" y="3200400"/>
            <a:ext cx="594360" cy="594360"/>
          </a:xfrm>
          <a:prstGeom prst="ellipse">
            <a:avLst/>
          </a:prstGeom>
          <a:solidFill>
            <a:srgbClr val="17A394"/>
          </a:solidFill>
          <a:ln w="12700">
            <a:solidFill>
              <a:srgbClr val="17A394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29654" y="3354934"/>
            <a:ext cx="285293" cy="285293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7452360" y="2999232"/>
            <a:ext cx="4023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2A55"/>
                </a:solidFill>
              </a:rPr>
              <a:t>Resumen semanal automático</a:t>
            </a:r>
            <a:endParaRPr lang="en-US" sz="1600" dirty="0"/>
          </a:p>
          <a:p>
            <a:pPr indent="0" marL="0">
              <a:buNone/>
            </a:pPr>
            <a:r>
              <a:rPr lang="en-US" sz="1300" dirty="0">
                <a:solidFill>
                  <a:srgbClr val="14213D"/>
                </a:solidFill>
              </a:rPr>
              <a:t>Un párrafo por IA cada lunes para Alcaldía y concejalías, en PDF.</a:t>
            </a:r>
            <a:endParaRPr lang="en-US" sz="1600" dirty="0"/>
          </a:p>
        </p:txBody>
      </p:sp>
      <p:sp>
        <p:nvSpPr>
          <p:cNvPr id="15" name="Coste de la IA, real hoy"/>
          <p:cNvSpPr/>
          <p:nvPr/>
        </p:nvSpPr>
        <p:spPr>
          <a:xfrm>
            <a:off x="6492240" y="4206240"/>
            <a:ext cx="5120640" cy="1143000"/>
          </a:xfrm>
          <a:prstGeom prst="roundRect">
            <a:avLst>
              <a:gd name="adj" fmla="val 9600"/>
            </a:avLst>
          </a:prstGeom>
          <a:solidFill>
            <a:srgbClr val="FFFFFF"/>
          </a:solidFill>
          <a:ln w="12700">
            <a:solidFill>
              <a:srgbClr val="D9E1EE"/>
            </a:solidFill>
            <a:prstDash val="solid"/>
          </a:ln>
          <a:effectLst>
            <a:outerShdw sx="100000" sy="100000" kx="0" ky="0" algn="bl" rotWithShape="0" blurRad="101600" dist="25400" dir="5400000">
              <a:srgbClr val="0B2A55">
                <a:alpha val="12000"/>
              </a:srgbClr>
            </a:outerShdw>
          </a:effectLst>
        </p:spPr>
      </p:sp>
      <p:sp>
        <p:nvSpPr>
          <p:cNvPr id="16" name="Shape 11"/>
          <p:cNvSpPr/>
          <p:nvPr/>
        </p:nvSpPr>
        <p:spPr>
          <a:xfrm>
            <a:off x="6675120" y="4480560"/>
            <a:ext cx="594360" cy="594360"/>
          </a:xfrm>
          <a:prstGeom prst="ellipse">
            <a:avLst/>
          </a:prstGeom>
          <a:solidFill>
            <a:srgbClr val="6B4FBB"/>
          </a:solidFill>
          <a:ln w="12700">
            <a:solidFill>
              <a:srgbClr val="6B4FBB"/>
            </a:solidFill>
            <a:prstDash val="solid"/>
          </a:ln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29654" y="4635094"/>
            <a:ext cx="285293" cy="285293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7452360" y="4279392"/>
            <a:ext cx="4023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2A55"/>
                </a:solidFill>
              </a:rPr>
              <a:t>Coste de la IA, real hoy</a:t>
            </a:r>
            <a:endParaRPr lang="en-US" sz="1600" dirty="0"/>
          </a:p>
          <a:p>
            <a:pPr indent="0" marL="0">
              <a:buNone/>
            </a:pPr>
            <a:r>
              <a:rPr lang="en-US" sz="1300" dirty="0">
                <a:solidFill>
                  <a:srgbClr val="14213D"/>
                </a:solidFill>
              </a:rPr>
              <a:t>14.300 conversaciones · 41 USD/mes · 0,003 USD por conversación.</a:t>
            </a:r>
            <a:endParaRPr lang="en-US" sz="1600" dirty="0"/>
          </a:p>
        </p:txBody>
      </p:sp>
      <p:sp>
        <p:nvSpPr>
          <p:cNvPr id="19" name="Text 13"/>
          <p:cNvSpPr txBox="1"/>
          <p:nvPr/>
        </p:nvSpPr>
        <p:spPr>
          <a:xfrm>
            <a:off x="548640" y="5577840"/>
            <a:ext cx="10972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B6B88"/>
                </a:solidFill>
              </a:rPr>
              <a:t>Ilustrativo · estados ya disponibles en la plataforma; coste de IA en GET /dashboards/ia/consumo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8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3200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HOJA DE RUTA</a:t>
            </a:r>
            <a:endParaRPr lang="en-US" sz="12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64008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Arrancamos con datos reales; cada acceso pendiente suma su bloque</a:t>
            </a:r>
            <a:endParaRPr lang="en-US" sz="3000" dirty="0"/>
          </a:p>
        </p:txBody>
      </p:sp>
      <p:sp>
        <p:nvSpPr>
          <p:cNvPr id="4" name="fase 1"/>
          <p:cNvSpPr/>
          <p:nvPr/>
        </p:nvSpPr>
        <p:spPr>
          <a:xfrm>
            <a:off x="548640" y="1691640"/>
            <a:ext cx="3474720" cy="3840480"/>
          </a:xfrm>
          <a:prstGeom prst="roundRect">
            <a:avLst>
              <a:gd name="adj" fmla="val 3158"/>
            </a:avLst>
          </a:prstGeom>
          <a:solidFill>
            <a:srgbClr val="E8F6F4"/>
          </a:solidFill>
          <a:ln w="25400">
            <a:solidFill>
              <a:srgbClr val="17A394"/>
            </a:solidFill>
            <a:prstDash val="solid"/>
          </a:ln>
          <a:effectLst>
            <a:outerShdw sx="100000" sy="100000" kx="0" ky="0" algn="bl" rotWithShape="0" blurRad="101600" dist="25400" dir="5400000">
              <a:srgbClr val="0B2A55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1920240"/>
            <a:ext cx="640080" cy="640080"/>
          </a:xfrm>
          <a:prstGeom prst="ellipse">
            <a:avLst/>
          </a:prstGeom>
          <a:solidFill>
            <a:srgbClr val="17A394"/>
          </a:solidFill>
          <a:ln w="12700">
            <a:solidFill>
              <a:srgbClr val="17A394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22960" y="19202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1</a:t>
            </a:r>
            <a:endParaRPr lang="en-US" sz="2400" dirty="0"/>
          </a:p>
        </p:txBody>
      </p:sp>
      <p:sp>
        <p:nvSpPr>
          <p:cNvPr id="7" name="Text 5"/>
          <p:cNvSpPr txBox="1"/>
          <p:nvPr/>
        </p:nvSpPr>
        <p:spPr>
          <a:xfrm>
            <a:off x="1600200" y="1874520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B2A55"/>
                </a:solidFill>
              </a:rPr>
              <a:t>Datos de hoy</a:t>
            </a:r>
            <a:endParaRPr lang="en-US" sz="1900" dirty="0"/>
          </a:p>
        </p:txBody>
      </p:sp>
      <p:sp>
        <p:nvSpPr>
          <p:cNvPr id="8" name="Text 6"/>
          <p:cNvSpPr txBox="1"/>
          <p:nvPr/>
        </p:nvSpPr>
        <p:spPr>
          <a:xfrm>
            <a:off x="1600200" y="228600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88"/>
                </a:solidFill>
              </a:rPr>
              <a:t>4 semanas desde la aprobación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2834640"/>
            <a:ext cx="301752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4213D"/>
                </a:solidFill>
              </a:rPr>
              <a:t>Franja económica y CO₂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4213D"/>
                </a:solidFill>
              </a:rPr>
              <a:t>Tendencias de 12 a 24 meses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4213D"/>
                </a:solidFill>
              </a:rPr>
              <a:t>Previsión de afluencia y energía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4213D"/>
                </a:solidFill>
              </a:rPr>
              <a:t>Recomendaciones con impacto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041648" y="3383280"/>
            <a:ext cx="237744" cy="365760"/>
          </a:xfrm>
          <a:prstGeom prst="rightArrow">
            <a:avLst/>
          </a:prstGeom>
          <a:solidFill>
            <a:srgbClr val="B8C2D6"/>
          </a:solidFill>
          <a:ln w="12700">
            <a:solidFill>
              <a:srgbClr val="B8C2D6"/>
            </a:solidFill>
            <a:prstDash val="solid"/>
          </a:ln>
        </p:spPr>
      </p:sp>
      <p:sp>
        <p:nvSpPr>
          <p:cNvPr id="11" name="fase 2"/>
          <p:cNvSpPr/>
          <p:nvPr/>
        </p:nvSpPr>
        <p:spPr>
          <a:xfrm>
            <a:off x="4297680" y="1691640"/>
            <a:ext cx="3474720" cy="3840480"/>
          </a:xfrm>
          <a:prstGeom prst="roundRect">
            <a:avLst>
              <a:gd name="adj" fmla="val 3158"/>
            </a:avLst>
          </a:prstGeom>
          <a:solidFill>
            <a:srgbClr val="FFFFFF"/>
          </a:solidFill>
          <a:ln w="12700">
            <a:solidFill>
              <a:srgbClr val="D9E1EE"/>
            </a:solidFill>
            <a:prstDash val="solid"/>
          </a:ln>
          <a:effectLst>
            <a:outerShdw sx="100000" sy="100000" kx="0" ky="0" algn="bl" rotWithShape="0" blurRad="101600" dist="25400" dir="5400000">
              <a:srgbClr val="0B2A55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572000" y="1920240"/>
            <a:ext cx="640080" cy="640080"/>
          </a:xfrm>
          <a:prstGeom prst="ellipse">
            <a:avLst/>
          </a:prstGeom>
          <a:solidFill>
            <a:srgbClr val="F2A93B"/>
          </a:solidFill>
          <a:ln w="12700">
            <a:solidFill>
              <a:srgbClr val="F2A93B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572000" y="19202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2</a:t>
            </a:r>
            <a:endParaRPr lang="en-US" sz="2400" dirty="0"/>
          </a:p>
        </p:txBody>
      </p:sp>
      <p:sp>
        <p:nvSpPr>
          <p:cNvPr id="14" name="Text 12"/>
          <p:cNvSpPr txBox="1"/>
          <p:nvPr/>
        </p:nvSpPr>
        <p:spPr>
          <a:xfrm>
            <a:off x="5349240" y="1874520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B2A55"/>
                </a:solidFill>
              </a:rPr>
              <a:t>Accesos pendientes</a:t>
            </a:r>
            <a:endParaRPr lang="en-US" sz="1900" dirty="0"/>
          </a:p>
        </p:txBody>
      </p:sp>
      <p:sp>
        <p:nvSpPr>
          <p:cNvPr id="15" name="Text 13"/>
          <p:cNvSpPr txBox="1"/>
          <p:nvPr/>
        </p:nvSpPr>
        <p:spPr>
          <a:xfrm>
            <a:off x="5349240" y="228600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88"/>
                </a:solidFill>
              </a:rPr>
              <a:t>1 a 2 semanas por credencial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4572000" y="2834640"/>
            <a:ext cx="301752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4213D"/>
                </a:solidFill>
              </a:rPr>
              <a:t>siGEUS: toneladas y reciclaje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4213D"/>
                </a:solidFill>
              </a:rPr>
              <a:t>Datadis privado: curvas por CUPS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4213D"/>
                </a:solidFill>
              </a:rPr>
              <a:t>Meta, X y GA4: turismo digital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4213D"/>
                </a:solidFill>
              </a:rPr>
              <a:t>Bettair: calidad del aire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7790688" y="3383280"/>
            <a:ext cx="237744" cy="365760"/>
          </a:xfrm>
          <a:prstGeom prst="rightArrow">
            <a:avLst/>
          </a:prstGeom>
          <a:solidFill>
            <a:srgbClr val="B8C2D6"/>
          </a:solidFill>
          <a:ln w="12700">
            <a:solidFill>
              <a:srgbClr val="B8C2D6"/>
            </a:solidFill>
            <a:prstDash val="solid"/>
          </a:ln>
        </p:spPr>
      </p:sp>
      <p:sp>
        <p:nvSpPr>
          <p:cNvPr id="18" name="fase 3"/>
          <p:cNvSpPr/>
          <p:nvPr/>
        </p:nvSpPr>
        <p:spPr>
          <a:xfrm>
            <a:off x="8046720" y="1691640"/>
            <a:ext cx="3474720" cy="3840480"/>
          </a:xfrm>
          <a:prstGeom prst="roundRect">
            <a:avLst>
              <a:gd name="adj" fmla="val 3158"/>
            </a:avLst>
          </a:prstGeom>
          <a:solidFill>
            <a:srgbClr val="FFFFFF"/>
          </a:solidFill>
          <a:ln w="12700">
            <a:solidFill>
              <a:srgbClr val="D9E1EE"/>
            </a:solidFill>
            <a:prstDash val="solid"/>
          </a:ln>
          <a:effectLst>
            <a:outerShdw sx="100000" sy="100000" kx="0" ky="0" algn="bl" rotWithShape="0" blurRad="101600" dist="25400" dir="5400000">
              <a:srgbClr val="0B2A55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8321040" y="1920240"/>
            <a:ext cx="640080" cy="640080"/>
          </a:xfrm>
          <a:prstGeom prst="ellipse">
            <a:avLst/>
          </a:prstGeom>
          <a:solidFill>
            <a:srgbClr val="2563B0"/>
          </a:solidFill>
          <a:ln w="12700">
            <a:solidFill>
              <a:srgbClr val="2563B0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8321040" y="19202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3</a:t>
            </a:r>
            <a:endParaRPr lang="en-US" sz="2400" dirty="0"/>
          </a:p>
        </p:txBody>
      </p:sp>
      <p:sp>
        <p:nvSpPr>
          <p:cNvPr id="21" name="Text 19"/>
          <p:cNvSpPr txBox="1"/>
          <p:nvPr/>
        </p:nvSpPr>
        <p:spPr>
          <a:xfrm>
            <a:off x="9098280" y="1874520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B2A55"/>
                </a:solidFill>
              </a:rPr>
              <a:t>Nuevas fuentes</a:t>
            </a:r>
            <a:endParaRPr lang="en-US" sz="1900" dirty="0"/>
          </a:p>
        </p:txBody>
      </p:sp>
      <p:sp>
        <p:nvSpPr>
          <p:cNvPr id="22" name="Text 20"/>
          <p:cNvSpPr txBox="1"/>
          <p:nvPr/>
        </p:nvSpPr>
        <p:spPr>
          <a:xfrm>
            <a:off x="9098280" y="228600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88"/>
                </a:solidFill>
              </a:rPr>
              <a:t>Según acuerdos con terceros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8321040" y="2834640"/>
            <a:ext cx="301752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4213D"/>
                </a:solidFill>
              </a:rPr>
              <a:t>WiFi y contadores (con DPIA)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4213D"/>
                </a:solidFill>
              </a:rPr>
              <a:t>Telelectura y SCADA del agua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4213D"/>
                </a:solidFill>
              </a:rPr>
              <a:t>Analítica de vídeo y 112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4213D"/>
                </a:solidFill>
              </a:rPr>
              <a:t>App Vive Níjar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548640" y="57150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A55"/>
                </a:solidFill>
              </a:rPr>
              <a:t>Puertas:  </a:t>
            </a:r>
            <a:pPr indent="0" marL="0">
              <a:buNone/>
            </a:pPr>
            <a:r>
              <a:rPr lang="en-US" sz="1300" dirty="0">
                <a:solidFill>
                  <a:srgbClr val="5B6B88"/>
                </a:solidFill>
              </a:rPr>
              <a:t>fase 2 al recibir cada credencial · fase 3 con acuerdos firmados y DPIA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8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3200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2"/>
                </a:solidFill>
              </a:rPr>
              <a:t>PRÓXIMOS PASOS</a:t>
            </a:r>
            <a:endParaRPr lang="en-US" sz="12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64008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bg1"/>
                </a:solidFill>
              </a:rPr>
              <a:t>Lo que necesitamos para tener la Vista de Gobierno 2.0 completa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6949440" cy="731520"/>
          </a:xfrm>
          <a:prstGeom prst="roundRect">
            <a:avLst>
              <a:gd name="adj" fmla="val 15000"/>
            </a:avLst>
          </a:prstGeom>
          <a:solidFill>
            <a:srgbClr val="FFFFFF">
              <a:alpha val="10000"/>
            </a:srgbClr>
          </a:solidFill>
          <a:ln w="9525">
            <a:solidFill>
              <a:srgbClr val="3A5A8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1856232"/>
            <a:ext cx="493776" cy="493776"/>
          </a:xfrm>
          <a:prstGeom prst="ellipse">
            <a:avLst/>
          </a:prstGeom>
          <a:solidFill>
            <a:srgbClr val="17A394"/>
          </a:solidFill>
          <a:ln w="12700">
            <a:solidFill>
              <a:srgbClr val="17A394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9902" y="1984614"/>
            <a:ext cx="237012" cy="237012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417320" y="1737360"/>
            <a:ext cx="5943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Aprobar la fase 1  </a:t>
            </a:r>
            <a:pPr indent="0" marL="0">
              <a:buNone/>
            </a:pPr>
            <a:r>
              <a:rPr lang="en-US" sz="1400" dirty="0">
                <a:solidFill>
                  <a:srgbClr val="C9D6EA"/>
                </a:solidFill>
              </a:rPr>
              <a:t>Entrega en 4 semanas con los datos que ya tiene la plataforma.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548640" y="2606040"/>
            <a:ext cx="6949440" cy="731520"/>
          </a:xfrm>
          <a:prstGeom prst="roundRect">
            <a:avLst>
              <a:gd name="adj" fmla="val 15000"/>
            </a:avLst>
          </a:prstGeom>
          <a:solidFill>
            <a:srgbClr val="FFFFFF">
              <a:alpha val="10000"/>
            </a:srgbClr>
          </a:solidFill>
          <a:ln w="9525">
            <a:solidFill>
              <a:srgbClr val="3A5A8C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731520" y="2724912"/>
            <a:ext cx="493776" cy="493776"/>
          </a:xfrm>
          <a:prstGeom prst="ellipse">
            <a:avLst/>
          </a:prstGeom>
          <a:solidFill>
            <a:srgbClr val="2F9E5F"/>
          </a:solidFill>
          <a:ln w="12700">
            <a:solidFill>
              <a:srgbClr val="2F9E5F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9902" y="2853294"/>
            <a:ext cx="237012" cy="237012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1417320" y="2606040"/>
            <a:ext cx="5943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Usuario de siGEUS  </a:t>
            </a:r>
            <a:pPr indent="0" marL="0">
              <a:buNone/>
            </a:pPr>
            <a:r>
              <a:rPr lang="en-US" sz="1400" dirty="0">
                <a:solidFill>
                  <a:srgbClr val="C9D6EA"/>
                </a:solidFill>
              </a:rPr>
              <a:t>Solo lectura y sin 2FA, facilitado por Distromel.</a:t>
            </a:r>
            <a:endParaRPr lang="en-US" sz="1400" dirty="0"/>
          </a:p>
        </p:txBody>
      </p:sp>
      <p:sp>
        <p:nvSpPr>
          <p:cNvPr id="12" name="Shape 8"/>
          <p:cNvSpPr/>
          <p:nvPr/>
        </p:nvSpPr>
        <p:spPr>
          <a:xfrm>
            <a:off x="548640" y="3474720"/>
            <a:ext cx="6949440" cy="731520"/>
          </a:xfrm>
          <a:prstGeom prst="roundRect">
            <a:avLst>
              <a:gd name="adj" fmla="val 15000"/>
            </a:avLst>
          </a:prstGeom>
          <a:solidFill>
            <a:srgbClr val="FFFFFF">
              <a:alpha val="10000"/>
            </a:srgbClr>
          </a:solidFill>
          <a:ln w="9525">
            <a:solidFill>
              <a:srgbClr val="3A5A8C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731520" y="3593592"/>
            <a:ext cx="493776" cy="493776"/>
          </a:xfrm>
          <a:prstGeom prst="ellipse">
            <a:avLst/>
          </a:prstGeom>
          <a:solidFill>
            <a:srgbClr val="F2A93B"/>
          </a:solidFill>
          <a:ln w="12700">
            <a:solidFill>
              <a:srgbClr val="F2A93B"/>
            </a:solidFill>
            <a:prstDash val="solid"/>
          </a:ln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9902" y="3721974"/>
            <a:ext cx="237012" cy="237012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1417320" y="3474720"/>
            <a:ext cx="5943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Usuario de Datadis  </a:t>
            </a:r>
            <a:pPr indent="0" marL="0">
              <a:buNone/>
            </a:pPr>
            <a:r>
              <a:rPr lang="en-US" sz="1400" dirty="0">
                <a:solidFill>
                  <a:srgbClr val="C9D6EA"/>
                </a:solidFill>
              </a:rPr>
              <a:t>Con autorización sobre los CUPS municipales.</a:t>
            </a:r>
            <a:endParaRPr lang="en-US" sz="1400" dirty="0"/>
          </a:p>
        </p:txBody>
      </p:sp>
      <p:sp>
        <p:nvSpPr>
          <p:cNvPr id="16" name="Shape 11"/>
          <p:cNvSpPr/>
          <p:nvPr/>
        </p:nvSpPr>
        <p:spPr>
          <a:xfrm>
            <a:off x="548640" y="4343400"/>
            <a:ext cx="6949440" cy="731520"/>
          </a:xfrm>
          <a:prstGeom prst="roundRect">
            <a:avLst>
              <a:gd name="adj" fmla="val 15000"/>
            </a:avLst>
          </a:prstGeom>
          <a:solidFill>
            <a:srgbClr val="FFFFFF">
              <a:alpha val="10000"/>
            </a:srgbClr>
          </a:solidFill>
          <a:ln w="9525">
            <a:solidFill>
              <a:srgbClr val="3A5A8C"/>
            </a:solidFill>
            <a:prstDash val="solid"/>
          </a:ln>
        </p:spPr>
      </p:sp>
      <p:sp>
        <p:nvSpPr>
          <p:cNvPr id="17" name="Shape 12"/>
          <p:cNvSpPr/>
          <p:nvPr/>
        </p:nvSpPr>
        <p:spPr>
          <a:xfrm>
            <a:off x="731520" y="4462272"/>
            <a:ext cx="493776" cy="493776"/>
          </a:xfrm>
          <a:prstGeom prst="ellipse">
            <a:avLst/>
          </a:prstGeom>
          <a:solidFill>
            <a:srgbClr val="2563B0"/>
          </a:solidFill>
          <a:ln w="12700">
            <a:solidFill>
              <a:srgbClr val="2563B0"/>
            </a:solidFill>
            <a:prstDash val="solid"/>
          </a:ln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9902" y="4590654"/>
            <a:ext cx="237012" cy="237012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1417320" y="4343400"/>
            <a:ext cx="5943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Tokens Meta, X y GA4  </a:t>
            </a:r>
            <a:pPr indent="0" marL="0">
              <a:buNone/>
            </a:pPr>
            <a:r>
              <a:rPr lang="en-US" sz="1400" dirty="0">
                <a:solidFill>
                  <a:srgbClr val="C9D6EA"/>
                </a:solidFill>
              </a:rPr>
              <a:t>Para Social Listening y analítica web reales.</a:t>
            </a:r>
            <a:endParaRPr lang="en-US" sz="1400" dirty="0"/>
          </a:p>
        </p:txBody>
      </p:sp>
      <p:sp>
        <p:nvSpPr>
          <p:cNvPr id="20" name="Shape 14"/>
          <p:cNvSpPr/>
          <p:nvPr/>
        </p:nvSpPr>
        <p:spPr>
          <a:xfrm>
            <a:off x="548640" y="5212080"/>
            <a:ext cx="6949440" cy="731520"/>
          </a:xfrm>
          <a:prstGeom prst="roundRect">
            <a:avLst>
              <a:gd name="adj" fmla="val 15000"/>
            </a:avLst>
          </a:prstGeom>
          <a:solidFill>
            <a:srgbClr val="FFFFFF">
              <a:alpha val="10000"/>
            </a:srgbClr>
          </a:solidFill>
          <a:ln w="9525">
            <a:solidFill>
              <a:srgbClr val="3A5A8C"/>
            </a:solidFill>
            <a:prstDash val="solid"/>
          </a:ln>
        </p:spPr>
      </p:sp>
      <p:sp>
        <p:nvSpPr>
          <p:cNvPr id="21" name="Shape 15"/>
          <p:cNvSpPr/>
          <p:nvPr/>
        </p:nvSpPr>
        <p:spPr>
          <a:xfrm>
            <a:off x="731520" y="5330952"/>
            <a:ext cx="493776" cy="493776"/>
          </a:xfrm>
          <a:prstGeom prst="ellipse">
            <a:avLst/>
          </a:prstGeom>
          <a:solidFill>
            <a:srgbClr val="6B4FBB"/>
          </a:solidFill>
          <a:ln w="12700">
            <a:solidFill>
              <a:srgbClr val="6B4FBB"/>
            </a:solidFill>
            <a:prstDash val="solid"/>
          </a:ln>
        </p:spPr>
      </p:sp>
      <p:pic>
        <p:nvPicPr>
          <p:cNvPr id="2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9902" y="5459334"/>
            <a:ext cx="237012" cy="237012"/>
          </a:xfrm>
          <a:prstGeom prst="rect">
            <a:avLst/>
          </a:prstGeom>
        </p:spPr>
      </p:pic>
      <p:sp>
        <p:nvSpPr>
          <p:cNvPr id="23" name="Text 16"/>
          <p:cNvSpPr txBox="1"/>
          <p:nvPr/>
        </p:nvSpPr>
        <p:spPr>
          <a:xfrm>
            <a:off x="1417320" y="5212080"/>
            <a:ext cx="5943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Credenciales de Bettair  </a:t>
            </a:r>
            <a:pPr indent="0" marL="0">
              <a:buNone/>
            </a:pPr>
            <a:r>
              <a:rPr lang="en-US" sz="1400" dirty="0">
                <a:solidFill>
                  <a:srgbClr val="C9D6EA"/>
                </a:solidFill>
              </a:rPr>
              <a:t>Calidad del aire en la portada y en Movilidad.</a:t>
            </a:r>
            <a:endParaRPr lang="en-US" sz="1400" dirty="0"/>
          </a:p>
        </p:txBody>
      </p:sp>
      <p:pic>
        <p:nvPicPr>
          <p:cNvPr id="24" name="Image 5" descr="/home/user/NijarApps/frontend/shared/tiles/playas.jpg">    </p:cNvPr>
          <p:cNvPicPr>
            <a:picLocks noChangeAspect="1"/>
          </p:cNvPicPr>
          <p:nvPr/>
        </p:nvPicPr>
        <p:blipFill>
          <a:blip r:embed="rId6"/>
          <a:srcRect l="0" r="0" t="0" b="0"/>
          <a:stretch/>
        </p:blipFill>
        <p:spPr>
          <a:xfrm>
            <a:off x="7863840" y="1737360"/>
            <a:ext cx="3749040" cy="4206240"/>
          </a:xfrm>
          <a:prstGeom prst="rect">
            <a:avLst/>
          </a:prstGeom>
        </p:spPr>
      </p:pic>
      <p:sp>
        <p:nvSpPr>
          <p:cNvPr id="25" name="Shape 17"/>
          <p:cNvSpPr/>
          <p:nvPr/>
        </p:nvSpPr>
        <p:spPr>
          <a:xfrm>
            <a:off x="7863840" y="4846320"/>
            <a:ext cx="3749040" cy="1097280"/>
          </a:xfrm>
          <a:prstGeom prst="rect">
            <a:avLst/>
          </a:prstGeom>
          <a:solidFill>
            <a:srgbClr val="0B2A55">
              <a:alpha val="75000"/>
            </a:srgbClr>
          </a:solidFill>
          <a:ln w="12700">
            <a:solidFill>
              <a:srgbClr val="0B2A55"/>
            </a:solidFill>
            <a:prstDash val="solid"/>
          </a:ln>
        </p:spPr>
      </p:sp>
      <p:sp>
        <p:nvSpPr>
          <p:cNvPr id="26" name="Text 18"/>
          <p:cNvSpPr txBox="1"/>
          <p:nvPr/>
        </p:nvSpPr>
        <p:spPr>
          <a:xfrm>
            <a:off x="8046720" y="4846320"/>
            <a:ext cx="3383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Datos reales, previsiones y decisiones en una sola pantalla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EA3C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Nijar DTI Gobierno">
  <a:themeElements>
    <a:clrScheme name="Nijar DTI Gobierno">
      <a:dk1>
        <a:srgbClr val="14213D"/>
      </a:dk1>
      <a:lt1>
        <a:srgbClr val="FFFFFF"/>
      </a:lt1>
      <a:dk2>
        <a:srgbClr val="0B2A55"/>
      </a:dk2>
      <a:lt2>
        <a:srgbClr val="EEF3FA"/>
      </a:lt2>
      <a:accent1>
        <a:srgbClr val="17A394"/>
      </a:accent1>
      <a:accent2>
        <a:srgbClr val="F2A93B"/>
      </a:accent2>
      <a:accent3>
        <a:srgbClr val="2F9E5F"/>
      </a:accent3>
      <a:accent4>
        <a:srgbClr val="E05A4D"/>
      </a:accent4>
      <a:accent5>
        <a:srgbClr val="2563B0"/>
      </a:accent5>
      <a:accent6>
        <a:srgbClr val="8A97B1"/>
      </a:accent6>
      <a:hlink>
        <a:srgbClr val="2563B0"/>
      </a:hlink>
      <a:folHlink>
        <a:srgbClr val="6B4FBB"/>
      </a:folHlink>
    </a:clrScheme>
    <a:fontScheme name="Nijar DTI Gobierno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Vista de Gobierno 2.0 · Propuesta de mejora</dc:title>
  <dc:subject>PptxGenJS Presentation</dc:subject>
  <dc:creator>Plataforma DTI Níjar</dc:creator>
  <cp:lastModifiedBy>Plataforma DTI Níjar</cp:lastModifiedBy>
  <cp:revision>1</cp:revision>
  <dcterms:created xsi:type="dcterms:W3CDTF">2026-10-23T06:53:10Z</dcterms:created>
  <dcterms:modified xsi:type="dcterms:W3CDTF">2026-10-23T06:53:10Z</dcterms:modified>
</cp:coreProperties>
</file>